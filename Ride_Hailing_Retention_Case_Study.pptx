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0D0D"/>
          </a:solidFill>
          <a:ln/>
        </p:spPr>
      </p:sp>
      <p:sp>
        <p:nvSpPr>
          <p:cNvPr id="3" name="Shape 1"/>
          <p:cNvSpPr/>
          <p:nvPr/>
        </p:nvSpPr>
        <p:spPr>
          <a:xfrm>
            <a:off x="8778240" y="1097280"/>
            <a:ext cx="4206240" cy="4206240"/>
          </a:xfrm>
          <a:prstGeom prst="ellipse">
            <a:avLst/>
          </a:prstGeom>
          <a:ln w="25400">
            <a:solidFill>
              <a:srgbClr val="8A5A0F"/>
            </a:solidFill>
            <a:prstDash val="solid"/>
          </a:ln>
        </p:spPr>
      </p:sp>
      <p:sp>
        <p:nvSpPr>
          <p:cNvPr id="4" name="Shape 2"/>
          <p:cNvSpPr/>
          <p:nvPr/>
        </p:nvSpPr>
        <p:spPr>
          <a:xfrm>
            <a:off x="9692640" y="2011680"/>
            <a:ext cx="2377440" cy="2377440"/>
          </a:xfrm>
          <a:prstGeom prst="ellipse">
            <a:avLst/>
          </a:prstGeom>
          <a:ln w="25400">
            <a:solidFill>
              <a:srgbClr val="F5A623"/>
            </a:solidFill>
            <a:prstDash val="solid"/>
          </a:ln>
        </p:spPr>
      </p:sp>
      <p:sp>
        <p:nvSpPr>
          <p:cNvPr id="5" name="Shape 3"/>
          <p:cNvSpPr/>
          <p:nvPr/>
        </p:nvSpPr>
        <p:spPr>
          <a:xfrm>
            <a:off x="914400" y="822960"/>
            <a:ext cx="914400" cy="914400"/>
          </a:xfrm>
          <a:prstGeom prst="roundRect">
            <a:avLst>
              <a:gd name="adj" fmla="val 15000"/>
            </a:avLst>
          </a:prstGeom>
          <a:solidFill>
            <a:srgbClr val="1A1A1A"/>
          </a:solidFill>
          <a:ln/>
        </p:spPr>
      </p:sp>
      <p:sp>
        <p:nvSpPr>
          <p:cNvPr id="6" name="Text 4"/>
          <p:cNvSpPr/>
          <p:nvPr/>
        </p:nvSpPr>
        <p:spPr>
          <a:xfrm>
            <a:off x="914400" y="822960"/>
            <a:ext cx="914400" cy="914400"/>
          </a:xfrm>
          <a:prstGeom prst="rect">
            <a:avLst/>
          </a:prstGeom>
          <a:noFill/>
          <a:ln/>
        </p:spPr>
        <p:txBody>
          <a:bodyPr wrap="square" rtlCol="0" anchor="ctr"/>
          <a:lstStyle/>
          <a:p>
            <a:pPr algn="ctr" indent="0" marL="0">
              <a:buNone/>
            </a:pPr>
            <a:r>
              <a:rPr lang="en-US" sz="3200" b="1" dirty="0">
                <a:solidFill>
                  <a:srgbClr val="F5A623"/>
                </a:solidFill>
                <a:latin typeface="Arial" pitchFamily="34" charset="0"/>
                <a:ea typeface="Arial" pitchFamily="34" charset="-122"/>
                <a:cs typeface="Arial" pitchFamily="34" charset="-120"/>
              </a:rPr>
              <a:t>R</a:t>
            </a:r>
            <a:endParaRPr lang="en-US" sz="3200" dirty="0"/>
          </a:p>
        </p:txBody>
      </p:sp>
      <p:sp>
        <p:nvSpPr>
          <p:cNvPr id="7" name="Text 5"/>
          <p:cNvSpPr/>
          <p:nvPr/>
        </p:nvSpPr>
        <p:spPr>
          <a:xfrm>
            <a:off x="914400" y="2377440"/>
            <a:ext cx="7315200" cy="365760"/>
          </a:xfrm>
          <a:prstGeom prst="rect">
            <a:avLst/>
          </a:prstGeom>
          <a:noFill/>
          <a:ln/>
        </p:spPr>
        <p:txBody>
          <a:bodyPr wrap="square" lIns="0" tIns="0" rIns="0" bIns="0" rtlCol="0" anchor="ctr"/>
          <a:lstStyle/>
          <a:p>
            <a:pPr indent="0" marL="0">
              <a:buNone/>
            </a:pPr>
            <a:r>
              <a:rPr lang="en-US" sz="1500" dirty="0">
                <a:solidFill>
                  <a:srgbClr val="F5A623"/>
                </a:solidFill>
                <a:latin typeface="Calibri" pitchFamily="34" charset="0"/>
                <a:ea typeface="Calibri" pitchFamily="34" charset="-122"/>
                <a:cs typeface="Calibri" pitchFamily="34" charset="-120"/>
              </a:rPr>
              <a:t>Mobility and On-Demand Transport</a:t>
            </a:r>
            <a:endParaRPr lang="en-US" sz="1500" dirty="0"/>
          </a:p>
        </p:txBody>
      </p:sp>
      <p:sp>
        <p:nvSpPr>
          <p:cNvPr id="8" name="Text 6"/>
          <p:cNvSpPr/>
          <p:nvPr/>
        </p:nvSpPr>
        <p:spPr>
          <a:xfrm>
            <a:off x="914400" y="2834640"/>
            <a:ext cx="7589520" cy="1554480"/>
          </a:xfrm>
          <a:prstGeom prst="rect">
            <a:avLst/>
          </a:prstGeom>
          <a:noFill/>
          <a:ln/>
        </p:spPr>
        <p:txBody>
          <a:bodyPr wrap="square" lIns="0" tIns="0" rIns="0" bIns="0" rtlCol="0" anchor="ctr"/>
          <a:lstStyle/>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How can ride-hailing apps increase</a:t>
            </a:r>
            <a:endParaRPr lang="en-US" sz="3400" dirty="0"/>
          </a:p>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user retention and engagement?</a:t>
            </a:r>
            <a:endParaRPr lang="en-US" sz="3400" dirty="0"/>
          </a:p>
        </p:txBody>
      </p:sp>
      <p:sp>
        <p:nvSpPr>
          <p:cNvPr id="9" name="Text 7"/>
          <p:cNvSpPr/>
          <p:nvPr/>
        </p:nvSpPr>
        <p:spPr>
          <a:xfrm>
            <a:off x="914400" y="4480560"/>
            <a:ext cx="6858000" cy="365760"/>
          </a:xfrm>
          <a:prstGeom prst="rect">
            <a:avLst/>
          </a:prstGeom>
          <a:noFill/>
          <a:ln/>
        </p:spPr>
        <p:txBody>
          <a:bodyPr wrap="square" lIns="0" tIns="0" rIns="0" bIns="0" rtlCol="0" anchor="ctr"/>
          <a:lstStyle/>
          <a:p>
            <a:pPr indent="0" marL="0">
              <a:buNone/>
            </a:pPr>
            <a:r>
              <a:rPr lang="en-US" sz="1400" i="1" dirty="0">
                <a:solidFill>
                  <a:srgbClr val="B0B0B0"/>
                </a:solidFill>
                <a:latin typeface="Calibri" pitchFamily="34" charset="0"/>
                <a:ea typeface="Calibri" pitchFamily="34" charset="-122"/>
                <a:cs typeface="Calibri" pitchFamily="34" charset="-120"/>
              </a:rPr>
              <a:t>Every ride should feel like a reason to come back.</a:t>
            </a:r>
            <a:endParaRPr lang="en-US" sz="1400" dirty="0"/>
          </a:p>
        </p:txBody>
      </p:sp>
      <p:sp>
        <p:nvSpPr>
          <p:cNvPr id="10" name="Text 8"/>
          <p:cNvSpPr/>
          <p:nvPr/>
        </p:nvSpPr>
        <p:spPr>
          <a:xfrm>
            <a:off x="914400" y="6035040"/>
            <a:ext cx="4572000" cy="320040"/>
          </a:xfrm>
          <a:prstGeom prst="rect">
            <a:avLst/>
          </a:prstGeom>
          <a:noFill/>
          <a:ln/>
        </p:spPr>
        <p:txBody>
          <a:bodyPr wrap="square" lIns="0" tIns="0" rIns="0" bIns="0" rtlCol="0" anchor="ctr"/>
          <a:lstStyle/>
          <a:p>
            <a:pPr indent="0" marL="0">
              <a:buNone/>
            </a:pPr>
            <a:r>
              <a:rPr lang="en-US" sz="1300" dirty="0">
                <a:solidFill>
                  <a:srgbClr val="6E6E6E"/>
                </a:solidFill>
                <a:latin typeface="Calibri" pitchFamily="34" charset="0"/>
                <a:ea typeface="Calibri" pitchFamily="34" charset="-122"/>
                <a:cs typeface="Calibri" pitchFamily="34" charset="-120"/>
              </a:rPr>
              <a:t>Product Case Study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457200" y="256032"/>
            <a:ext cx="457200" cy="310896"/>
          </a:xfrm>
          <a:prstGeom prst="roundRect">
            <a:avLst>
              <a:gd name="adj" fmla="val 17647"/>
            </a:avLst>
          </a:prstGeom>
          <a:solidFill>
            <a:srgbClr val="1A1A1A"/>
          </a:solidFill>
          <a:ln/>
        </p:spPr>
      </p:sp>
      <p:sp>
        <p:nvSpPr>
          <p:cNvPr id="3" name="Text 1"/>
          <p:cNvSpPr/>
          <p:nvPr/>
        </p:nvSpPr>
        <p:spPr>
          <a:xfrm>
            <a:off x="457200" y="256032"/>
            <a:ext cx="457200" cy="310896"/>
          </a:xfrm>
          <a:prstGeom prst="rect">
            <a:avLst/>
          </a:prstGeom>
          <a:noFill/>
          <a:ln/>
        </p:spPr>
        <p:txBody>
          <a:bodyPr wrap="square" rtlCol="0" anchor="ctr"/>
          <a:lstStyle/>
          <a:p>
            <a:pPr algn="ctr" indent="0" marL="0">
              <a:buNone/>
            </a:pPr>
            <a:r>
              <a:rPr lang="en-US" sz="1400" b="1" dirty="0">
                <a:solidFill>
                  <a:srgbClr val="F5A623"/>
                </a:solidFill>
                <a:latin typeface="Arial" pitchFamily="34" charset="0"/>
                <a:ea typeface="Arial" pitchFamily="34" charset="-122"/>
                <a:cs typeface="Arial" pitchFamily="34" charset="-120"/>
              </a:rPr>
              <a:t>R</a:t>
            </a:r>
            <a:endParaRPr lang="en-US" sz="1400" dirty="0"/>
          </a:p>
        </p:txBody>
      </p:sp>
      <p:sp>
        <p:nvSpPr>
          <p:cNvPr id="4" name="Shape 2"/>
          <p:cNvSpPr/>
          <p:nvPr/>
        </p:nvSpPr>
        <p:spPr>
          <a:xfrm>
            <a:off x="1097280" y="274320"/>
            <a:ext cx="969264" cy="274320"/>
          </a:xfrm>
          <a:prstGeom prst="roundRect">
            <a:avLst>
              <a:gd name="adj" fmla="val 50000"/>
            </a:avLst>
          </a:prstGeom>
          <a:solidFill>
            <a:srgbClr val="F5A623"/>
          </a:solidFill>
          <a:ln/>
        </p:spPr>
      </p:sp>
      <p:sp>
        <p:nvSpPr>
          <p:cNvPr id="5" name="Text 3"/>
          <p:cNvSpPr/>
          <p:nvPr/>
        </p:nvSpPr>
        <p:spPr>
          <a:xfrm>
            <a:off x="1097280" y="274320"/>
            <a:ext cx="969264" cy="274320"/>
          </a:xfrm>
          <a:prstGeom prst="rect">
            <a:avLst/>
          </a:prstGeom>
          <a:noFill/>
          <a:ln/>
        </p:spPr>
        <p:txBody>
          <a:bodyPr wrap="square" lIns="0" tIns="0" rIns="0" bIns="0" rtlCol="0" anchor="ctr"/>
          <a:lstStyle/>
          <a:p>
            <a:pPr algn="ctr" indent="0" marL="0">
              <a:buNone/>
            </a:pPr>
            <a:r>
              <a:rPr lang="en-US" sz="1000" b="1" dirty="0">
                <a:solidFill>
                  <a:srgbClr val="1A1A00"/>
                </a:solidFill>
                <a:latin typeface="Calibri" pitchFamily="34" charset="0"/>
                <a:ea typeface="Calibri" pitchFamily="34" charset="-122"/>
                <a:cs typeface="Calibri" pitchFamily="34" charset="-120"/>
              </a:rPr>
              <a:t>OVERVIEW</a:t>
            </a:r>
            <a:endParaRPr lang="en-US" sz="1000" dirty="0"/>
          </a:p>
        </p:txBody>
      </p:sp>
      <p:sp>
        <p:nvSpPr>
          <p:cNvPr id="6" name="Text 4"/>
          <p:cNvSpPr/>
          <p:nvPr/>
        </p:nvSpPr>
        <p:spPr>
          <a:xfrm>
            <a:off x="2203704" y="274320"/>
            <a:ext cx="1751076"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PROBLEM STATEMENT</a:t>
            </a:r>
            <a:endParaRPr lang="en-US" sz="1000" dirty="0"/>
          </a:p>
        </p:txBody>
      </p:sp>
      <p:sp>
        <p:nvSpPr>
          <p:cNvPr id="7" name="Text 5"/>
          <p:cNvSpPr/>
          <p:nvPr/>
        </p:nvSpPr>
        <p:spPr>
          <a:xfrm>
            <a:off x="4091940" y="274320"/>
            <a:ext cx="1403604"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USER PERSONAS</a:t>
            </a:r>
            <a:endParaRPr lang="en-US" sz="1000" dirty="0"/>
          </a:p>
        </p:txBody>
      </p:sp>
      <p:sp>
        <p:nvSpPr>
          <p:cNvPr id="8" name="Text 6"/>
          <p:cNvSpPr/>
          <p:nvPr/>
        </p:nvSpPr>
        <p:spPr>
          <a:xfrm>
            <a:off x="5632704" y="274320"/>
            <a:ext cx="1056132"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SOLUTIONS</a:t>
            </a:r>
            <a:endParaRPr lang="en-US" sz="1000" dirty="0"/>
          </a:p>
        </p:txBody>
      </p:sp>
      <p:sp>
        <p:nvSpPr>
          <p:cNvPr id="9" name="Text 7"/>
          <p:cNvSpPr/>
          <p:nvPr/>
        </p:nvSpPr>
        <p:spPr>
          <a:xfrm>
            <a:off x="6825996" y="274320"/>
            <a:ext cx="1490472"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PRIORITIZATION</a:t>
            </a:r>
            <a:endParaRPr lang="en-US" sz="1000" dirty="0"/>
          </a:p>
        </p:txBody>
      </p:sp>
      <p:sp>
        <p:nvSpPr>
          <p:cNvPr id="10" name="Text 8"/>
          <p:cNvSpPr/>
          <p:nvPr/>
        </p:nvSpPr>
        <p:spPr>
          <a:xfrm>
            <a:off x="8453628" y="274320"/>
            <a:ext cx="621792"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KPIs</a:t>
            </a:r>
            <a:endParaRPr lang="en-US" sz="1000" dirty="0"/>
          </a:p>
        </p:txBody>
      </p:sp>
      <p:sp>
        <p:nvSpPr>
          <p:cNvPr id="11" name="Text 9"/>
          <p:cNvSpPr/>
          <p:nvPr/>
        </p:nvSpPr>
        <p:spPr>
          <a:xfrm>
            <a:off x="457200" y="777240"/>
            <a:ext cx="112471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About ride-hailing platforms</a:t>
            </a:r>
            <a:endParaRPr lang="en-US" sz="3000" dirty="0"/>
          </a:p>
        </p:txBody>
      </p:sp>
      <p:sp>
        <p:nvSpPr>
          <p:cNvPr id="12" name="Shape 10"/>
          <p:cNvSpPr/>
          <p:nvPr/>
        </p:nvSpPr>
        <p:spPr>
          <a:xfrm>
            <a:off x="457200" y="1554480"/>
            <a:ext cx="5486400" cy="2331720"/>
          </a:xfrm>
          <a:prstGeom prst="roundRect">
            <a:avLst>
              <a:gd name="adj" fmla="val 3137"/>
            </a:avLst>
          </a:prstGeom>
          <a:solidFill>
            <a:srgbClr val="1A1A1A"/>
          </a:solidFill>
          <a:ln/>
        </p:spPr>
      </p:sp>
      <p:sp>
        <p:nvSpPr>
          <p:cNvPr id="13" name="Text 11"/>
          <p:cNvSpPr/>
          <p:nvPr/>
        </p:nvSpPr>
        <p:spPr>
          <a:xfrm>
            <a:off x="685800" y="1737360"/>
            <a:ext cx="5029200" cy="2011680"/>
          </a:xfrm>
          <a:prstGeom prst="rect">
            <a:avLst/>
          </a:prstGeom>
          <a:noFill/>
          <a:ln/>
        </p:spPr>
        <p:txBody>
          <a:bodyPr wrap="square" lIns="0" tIns="0" rIns="0" bIns="0" rtlCol="0" anchor="t"/>
          <a:lstStyle/>
          <a:p>
            <a:pPr indent="0" marL="0">
              <a:lnSpc>
                <a:spcPct val="125000"/>
              </a:lnSpc>
              <a:buNone/>
            </a:pPr>
            <a:r>
              <a:rPr lang="en-US" sz="1300" dirty="0">
                <a:solidFill>
                  <a:srgbClr val="B0B0B0"/>
                </a:solidFill>
                <a:latin typeface="Calibri" pitchFamily="34" charset="0"/>
                <a:ea typeface="Calibri" pitchFamily="34" charset="-122"/>
                <a:cs typeface="Calibri" pitchFamily="34" charset="-120"/>
              </a:rPr>
              <a:t>Ride-hailing platforms </a:t>
            </a:r>
            <a:pPr indent="0" marL="0">
              <a:lnSpc>
                <a:spcPct val="125000"/>
              </a:lnSpc>
              <a:buNone/>
            </a:pPr>
            <a:r>
              <a:rPr lang="en-US" sz="1300" b="1" dirty="0">
                <a:solidFill>
                  <a:srgbClr val="F5A623"/>
                </a:solidFill>
                <a:latin typeface="Calibri" pitchFamily="34" charset="0"/>
                <a:ea typeface="Calibri" pitchFamily="34" charset="-122"/>
                <a:cs typeface="Calibri" pitchFamily="34" charset="-120"/>
              </a:rPr>
              <a:t>(Ola, Uber, and regional rivals) </a:t>
            </a:r>
            <a:pPr indent="0" marL="0">
              <a:lnSpc>
                <a:spcPct val="125000"/>
              </a:lnSpc>
              <a:buNone/>
            </a:pPr>
            <a:r>
              <a:rPr lang="en-US" sz="1300" dirty="0">
                <a:solidFill>
                  <a:srgbClr val="B0B0B0"/>
                </a:solidFill>
                <a:latin typeface="Calibri" pitchFamily="34" charset="0"/>
                <a:ea typeface="Calibri" pitchFamily="34" charset="-122"/>
                <a:cs typeface="Calibri" pitchFamily="34" charset="-120"/>
              </a:rPr>
              <a:t>connect riders with drivers on demand across 100+ Indian cities and hundreds of global metros. The category has matured from novelty to daily utility, but that same convenience makes it trivial for riders to compare and switch apps mid-booking.</a:t>
            </a:r>
            <a:endParaRPr lang="en-US" sz="1300" dirty="0"/>
          </a:p>
        </p:txBody>
      </p:sp>
      <p:sp>
        <p:nvSpPr>
          <p:cNvPr id="14" name="Shape 12"/>
          <p:cNvSpPr/>
          <p:nvPr/>
        </p:nvSpPr>
        <p:spPr>
          <a:xfrm>
            <a:off x="457200" y="4069080"/>
            <a:ext cx="5486400" cy="2148840"/>
          </a:xfrm>
          <a:prstGeom prst="roundRect">
            <a:avLst>
              <a:gd name="adj" fmla="val 3404"/>
            </a:avLst>
          </a:prstGeom>
          <a:solidFill>
            <a:srgbClr val="1A1A1A"/>
          </a:solidFill>
          <a:ln/>
        </p:spPr>
      </p:sp>
      <p:sp>
        <p:nvSpPr>
          <p:cNvPr id="15" name="Text 13"/>
          <p:cNvSpPr/>
          <p:nvPr/>
        </p:nvSpPr>
        <p:spPr>
          <a:xfrm>
            <a:off x="685800" y="4206240"/>
            <a:ext cx="5029200" cy="320040"/>
          </a:xfrm>
          <a:prstGeom prst="rect">
            <a:avLst/>
          </a:prstGeom>
          <a:noFill/>
          <a:ln/>
        </p:spPr>
        <p:txBody>
          <a:bodyPr wrap="square" lIns="0" tIns="0" rIns="0" bIns="0" rtlCol="0" anchor="ctr"/>
          <a:lstStyle/>
          <a:p>
            <a:pPr indent="0" marL="0">
              <a:buNone/>
            </a:pPr>
            <a:r>
              <a:rPr lang="en-US" sz="1600" b="1" dirty="0">
                <a:solidFill>
                  <a:srgbClr val="F5A623"/>
                </a:solidFill>
                <a:latin typeface="Cambria" pitchFamily="34" charset="0"/>
                <a:ea typeface="Cambria" pitchFamily="34" charset="-122"/>
                <a:cs typeface="Cambria" pitchFamily="34" charset="-120"/>
              </a:rPr>
              <a:t>Business model</a:t>
            </a:r>
            <a:endParaRPr lang="en-US" sz="1600" dirty="0"/>
          </a:p>
        </p:txBody>
      </p:sp>
      <p:sp>
        <p:nvSpPr>
          <p:cNvPr id="16" name="Text 14"/>
          <p:cNvSpPr/>
          <p:nvPr/>
        </p:nvSpPr>
        <p:spPr>
          <a:xfrm>
            <a:off x="685800" y="4572000"/>
            <a:ext cx="5029200" cy="1463040"/>
          </a:xfrm>
          <a:prstGeom prst="rect">
            <a:avLst/>
          </a:prstGeom>
          <a:noFill/>
          <a:ln/>
        </p:spPr>
        <p:txBody>
          <a:bodyPr wrap="square" lIns="0" tIns="0" rIns="0" bIns="0" rtlCol="0" anchor="t"/>
          <a:lstStyle/>
          <a:p>
            <a:pPr indent="0" marL="0">
              <a:lnSpc>
                <a:spcPct val="125000"/>
              </a:lnSpc>
              <a:buNone/>
            </a:pPr>
            <a:r>
              <a:rPr lang="en-US" sz="1250" b="1" dirty="0">
                <a:solidFill>
                  <a:srgbClr val="FFFFFF"/>
                </a:solidFill>
                <a:latin typeface="Calibri" pitchFamily="34" charset="0"/>
                <a:ea typeface="Calibri" pitchFamily="34" charset="-122"/>
                <a:cs typeface="Calibri" pitchFamily="34" charset="-120"/>
              </a:rPr>
              <a:t>Commission-based marketplace. </a:t>
            </a:r>
            <a:pPr indent="0" marL="0">
              <a:lnSpc>
                <a:spcPct val="125000"/>
              </a:lnSpc>
              <a:buNone/>
            </a:pPr>
            <a:r>
              <a:rPr lang="en-US" sz="1250" dirty="0">
                <a:solidFill>
                  <a:srgbClr val="B0B0B0"/>
                </a:solidFill>
                <a:latin typeface="Calibri" pitchFamily="34" charset="0"/>
                <a:ea typeface="Calibri" pitchFamily="34" charset="-122"/>
                <a:cs typeface="Calibri" pitchFamily="34" charset="-120"/>
              </a:rPr>
              <a:t>Platforms take a cut of every fare plus surge premiums, while riders and drivers absorb price volatility. Subscription add-ons (Uber One, Ola Prime) and ads are smaller, growing revenue lines. </a:t>
            </a:r>
            <a:pPr indent="0" marL="0">
              <a:lnSpc>
                <a:spcPct val="125000"/>
              </a:lnSpc>
              <a:buNone/>
            </a:pPr>
            <a:r>
              <a:rPr lang="en-US" sz="1250" b="1" dirty="0">
                <a:solidFill>
                  <a:srgbClr val="FFFFFF"/>
                </a:solidFill>
                <a:latin typeface="Calibri" pitchFamily="34" charset="0"/>
                <a:ea typeface="Calibri" pitchFamily="34" charset="-122"/>
                <a:cs typeface="Calibri" pitchFamily="34" charset="-120"/>
              </a:rPr>
              <a:t>The focus is on winning the next ride, not just the next signup.</a:t>
            </a:r>
            <a:endParaRPr lang="en-US" sz="1250" dirty="0"/>
          </a:p>
        </p:txBody>
      </p:sp>
      <p:sp>
        <p:nvSpPr>
          <p:cNvPr id="17" name="Shape 15"/>
          <p:cNvSpPr/>
          <p:nvPr/>
        </p:nvSpPr>
        <p:spPr>
          <a:xfrm>
            <a:off x="6263640" y="1554480"/>
            <a:ext cx="2651760" cy="1143000"/>
          </a:xfrm>
          <a:prstGeom prst="roundRect">
            <a:avLst>
              <a:gd name="adj" fmla="val 6400"/>
            </a:avLst>
          </a:prstGeom>
          <a:solidFill>
            <a:srgbClr val="1A1A1A"/>
          </a:solidFill>
          <a:ln/>
        </p:spPr>
      </p:sp>
      <p:sp>
        <p:nvSpPr>
          <p:cNvPr id="18" name="Text 16"/>
          <p:cNvSpPr/>
          <p:nvPr/>
        </p:nvSpPr>
        <p:spPr>
          <a:xfrm>
            <a:off x="6400800" y="1664208"/>
            <a:ext cx="2377440" cy="457200"/>
          </a:xfrm>
          <a:prstGeom prst="rect">
            <a:avLst/>
          </a:prstGeom>
          <a:noFill/>
          <a:ln/>
        </p:spPr>
        <p:txBody>
          <a:bodyPr wrap="square" lIns="0" tIns="0" rIns="0" bIns="0" rtlCol="0" anchor="ctr"/>
          <a:lstStyle/>
          <a:p>
            <a:pPr indent="0" marL="0">
              <a:buNone/>
            </a:pPr>
            <a:r>
              <a:rPr lang="en-US" sz="2600" b="1" dirty="0">
                <a:solidFill>
                  <a:srgbClr val="F5A623"/>
                </a:solidFill>
                <a:latin typeface="Cambria" pitchFamily="34" charset="0"/>
                <a:ea typeface="Cambria" pitchFamily="34" charset="-122"/>
                <a:cs typeface="Cambria" pitchFamily="34" charset="-120"/>
              </a:rPr>
              <a:t>150M+</a:t>
            </a:r>
            <a:endParaRPr lang="en-US" sz="2600" dirty="0"/>
          </a:p>
        </p:txBody>
      </p:sp>
      <p:sp>
        <p:nvSpPr>
          <p:cNvPr id="19" name="Text 17"/>
          <p:cNvSpPr/>
          <p:nvPr/>
        </p:nvSpPr>
        <p:spPr>
          <a:xfrm>
            <a:off x="6400800" y="2176272"/>
            <a:ext cx="2377440" cy="457200"/>
          </a:xfrm>
          <a:prstGeom prst="rect">
            <a:avLst/>
          </a:prstGeom>
          <a:noFill/>
          <a:ln/>
        </p:spPr>
        <p:txBody>
          <a:bodyPr wrap="square" lIns="0" tIns="0" rIns="0" bIns="0" rtlCol="0" anchor="ctr"/>
          <a:lstStyle/>
          <a:p>
            <a:pPr indent="0" marL="0">
              <a:lnSpc>
                <a:spcPct val="110000"/>
              </a:lnSpc>
              <a:buNone/>
            </a:pPr>
            <a:r>
              <a:rPr lang="en-US" sz="1050" dirty="0">
                <a:solidFill>
                  <a:srgbClr val="B0B0B0"/>
                </a:solidFill>
                <a:latin typeface="Calibri" pitchFamily="34" charset="0"/>
                <a:ea typeface="Calibri" pitchFamily="34" charset="-122"/>
                <a:cs typeface="Calibri" pitchFamily="34" charset="-120"/>
              </a:rPr>
              <a:t>Monthly active riders (category-wide)</a:t>
            </a:r>
            <a:endParaRPr lang="en-US" sz="1050" dirty="0"/>
          </a:p>
        </p:txBody>
      </p:sp>
      <p:sp>
        <p:nvSpPr>
          <p:cNvPr id="20" name="Shape 18"/>
          <p:cNvSpPr/>
          <p:nvPr/>
        </p:nvSpPr>
        <p:spPr>
          <a:xfrm>
            <a:off x="9052560" y="1554480"/>
            <a:ext cx="2651760" cy="1143000"/>
          </a:xfrm>
          <a:prstGeom prst="roundRect">
            <a:avLst>
              <a:gd name="adj" fmla="val 6400"/>
            </a:avLst>
          </a:prstGeom>
          <a:solidFill>
            <a:srgbClr val="1A1A1A"/>
          </a:solidFill>
          <a:ln/>
        </p:spPr>
      </p:sp>
      <p:sp>
        <p:nvSpPr>
          <p:cNvPr id="21" name="Text 19"/>
          <p:cNvSpPr/>
          <p:nvPr/>
        </p:nvSpPr>
        <p:spPr>
          <a:xfrm>
            <a:off x="9189720" y="1664208"/>
            <a:ext cx="2377440" cy="457200"/>
          </a:xfrm>
          <a:prstGeom prst="rect">
            <a:avLst/>
          </a:prstGeom>
          <a:noFill/>
          <a:ln/>
        </p:spPr>
        <p:txBody>
          <a:bodyPr wrap="square" lIns="0" tIns="0" rIns="0" bIns="0" rtlCol="0" anchor="ctr"/>
          <a:lstStyle/>
          <a:p>
            <a:pPr indent="0" marL="0">
              <a:buNone/>
            </a:pPr>
            <a:r>
              <a:rPr lang="en-US" sz="2600" b="1" dirty="0">
                <a:solidFill>
                  <a:srgbClr val="F5A623"/>
                </a:solidFill>
                <a:latin typeface="Cambria" pitchFamily="34" charset="0"/>
                <a:ea typeface="Cambria" pitchFamily="34" charset="-122"/>
                <a:cs typeface="Cambria" pitchFamily="34" charset="-120"/>
              </a:rPr>
              <a:t>100+</a:t>
            </a:r>
            <a:endParaRPr lang="en-US" sz="2600" dirty="0"/>
          </a:p>
        </p:txBody>
      </p:sp>
      <p:sp>
        <p:nvSpPr>
          <p:cNvPr id="22" name="Text 20"/>
          <p:cNvSpPr/>
          <p:nvPr/>
        </p:nvSpPr>
        <p:spPr>
          <a:xfrm>
            <a:off x="9189720" y="2176272"/>
            <a:ext cx="2377440" cy="457200"/>
          </a:xfrm>
          <a:prstGeom prst="rect">
            <a:avLst/>
          </a:prstGeom>
          <a:noFill/>
          <a:ln/>
        </p:spPr>
        <p:txBody>
          <a:bodyPr wrap="square" lIns="0" tIns="0" rIns="0" bIns="0" rtlCol="0" anchor="ctr"/>
          <a:lstStyle/>
          <a:p>
            <a:pPr indent="0" marL="0">
              <a:lnSpc>
                <a:spcPct val="110000"/>
              </a:lnSpc>
              <a:buNone/>
            </a:pPr>
            <a:r>
              <a:rPr lang="en-US" sz="1050" dirty="0">
                <a:solidFill>
                  <a:srgbClr val="B0B0B0"/>
                </a:solidFill>
                <a:latin typeface="Calibri" pitchFamily="34" charset="0"/>
                <a:ea typeface="Calibri" pitchFamily="34" charset="-122"/>
                <a:cs typeface="Calibri" pitchFamily="34" charset="-120"/>
              </a:rPr>
              <a:t>Cities served in India alone</a:t>
            </a:r>
            <a:endParaRPr lang="en-US" sz="1050" dirty="0"/>
          </a:p>
        </p:txBody>
      </p:sp>
      <p:sp>
        <p:nvSpPr>
          <p:cNvPr id="23" name="Shape 21"/>
          <p:cNvSpPr/>
          <p:nvPr/>
        </p:nvSpPr>
        <p:spPr>
          <a:xfrm>
            <a:off x="6263640" y="2834640"/>
            <a:ext cx="2651760" cy="1143000"/>
          </a:xfrm>
          <a:prstGeom prst="roundRect">
            <a:avLst>
              <a:gd name="adj" fmla="val 6400"/>
            </a:avLst>
          </a:prstGeom>
          <a:solidFill>
            <a:srgbClr val="1A1A1A"/>
          </a:solidFill>
          <a:ln/>
        </p:spPr>
      </p:sp>
      <p:sp>
        <p:nvSpPr>
          <p:cNvPr id="24" name="Text 22"/>
          <p:cNvSpPr/>
          <p:nvPr/>
        </p:nvSpPr>
        <p:spPr>
          <a:xfrm>
            <a:off x="6400800" y="2944368"/>
            <a:ext cx="2377440" cy="457200"/>
          </a:xfrm>
          <a:prstGeom prst="rect">
            <a:avLst/>
          </a:prstGeom>
          <a:noFill/>
          <a:ln/>
        </p:spPr>
        <p:txBody>
          <a:bodyPr wrap="square" lIns="0" tIns="0" rIns="0" bIns="0" rtlCol="0" anchor="ctr"/>
          <a:lstStyle/>
          <a:p>
            <a:pPr indent="0" marL="0">
              <a:buNone/>
            </a:pPr>
            <a:r>
              <a:rPr lang="en-US" sz="2600" b="1" dirty="0">
                <a:solidFill>
                  <a:srgbClr val="F5A623"/>
                </a:solidFill>
                <a:latin typeface="Cambria" pitchFamily="34" charset="0"/>
                <a:ea typeface="Cambria" pitchFamily="34" charset="-122"/>
                <a:cs typeface="Cambria" pitchFamily="34" charset="-120"/>
              </a:rPr>
              <a:t>78%</a:t>
            </a:r>
            <a:endParaRPr lang="en-US" sz="2600" dirty="0"/>
          </a:p>
        </p:txBody>
      </p:sp>
      <p:sp>
        <p:nvSpPr>
          <p:cNvPr id="25" name="Text 23"/>
          <p:cNvSpPr/>
          <p:nvPr/>
        </p:nvSpPr>
        <p:spPr>
          <a:xfrm>
            <a:off x="6400800" y="3456432"/>
            <a:ext cx="2377440" cy="457200"/>
          </a:xfrm>
          <a:prstGeom prst="rect">
            <a:avLst/>
          </a:prstGeom>
          <a:noFill/>
          <a:ln/>
        </p:spPr>
        <p:txBody>
          <a:bodyPr wrap="square" lIns="0" tIns="0" rIns="0" bIns="0" rtlCol="0" anchor="ctr"/>
          <a:lstStyle/>
          <a:p>
            <a:pPr indent="0" marL="0">
              <a:lnSpc>
                <a:spcPct val="110000"/>
              </a:lnSpc>
              <a:buNone/>
            </a:pPr>
            <a:r>
              <a:rPr lang="en-US" sz="1050" dirty="0">
                <a:solidFill>
                  <a:srgbClr val="B0B0B0"/>
                </a:solidFill>
                <a:latin typeface="Calibri" pitchFamily="34" charset="0"/>
                <a:ea typeface="Calibri" pitchFamily="34" charset="-122"/>
                <a:cs typeface="Calibri" pitchFamily="34" charset="-120"/>
              </a:rPr>
              <a:t>Rides booked via price/ETA comparison across apps</a:t>
            </a:r>
            <a:endParaRPr lang="en-US" sz="1050" dirty="0"/>
          </a:p>
        </p:txBody>
      </p:sp>
      <p:sp>
        <p:nvSpPr>
          <p:cNvPr id="26" name="Shape 24"/>
          <p:cNvSpPr/>
          <p:nvPr/>
        </p:nvSpPr>
        <p:spPr>
          <a:xfrm>
            <a:off x="9052560" y="2834640"/>
            <a:ext cx="2651760" cy="1143000"/>
          </a:xfrm>
          <a:prstGeom prst="roundRect">
            <a:avLst>
              <a:gd name="adj" fmla="val 6400"/>
            </a:avLst>
          </a:prstGeom>
          <a:solidFill>
            <a:srgbClr val="1A1A1A"/>
          </a:solidFill>
          <a:ln/>
        </p:spPr>
      </p:sp>
      <p:sp>
        <p:nvSpPr>
          <p:cNvPr id="27" name="Text 25"/>
          <p:cNvSpPr/>
          <p:nvPr/>
        </p:nvSpPr>
        <p:spPr>
          <a:xfrm>
            <a:off x="9189720" y="2944368"/>
            <a:ext cx="2377440" cy="457200"/>
          </a:xfrm>
          <a:prstGeom prst="rect">
            <a:avLst/>
          </a:prstGeom>
          <a:noFill/>
          <a:ln/>
        </p:spPr>
        <p:txBody>
          <a:bodyPr wrap="square" lIns="0" tIns="0" rIns="0" bIns="0" rtlCol="0" anchor="ctr"/>
          <a:lstStyle/>
          <a:p>
            <a:pPr indent="0" marL="0">
              <a:buNone/>
            </a:pPr>
            <a:r>
              <a:rPr lang="en-US" sz="2600" b="1" dirty="0">
                <a:solidFill>
                  <a:srgbClr val="F5A623"/>
                </a:solidFill>
                <a:latin typeface="Cambria" pitchFamily="34" charset="0"/>
                <a:ea typeface="Cambria" pitchFamily="34" charset="-122"/>
                <a:cs typeface="Cambria" pitchFamily="34" charset="-120"/>
              </a:rPr>
              <a:t>2-3</a:t>
            </a:r>
            <a:endParaRPr lang="en-US" sz="2600" dirty="0"/>
          </a:p>
        </p:txBody>
      </p:sp>
      <p:sp>
        <p:nvSpPr>
          <p:cNvPr id="28" name="Text 26"/>
          <p:cNvSpPr/>
          <p:nvPr/>
        </p:nvSpPr>
        <p:spPr>
          <a:xfrm>
            <a:off x="9189720" y="3456432"/>
            <a:ext cx="2377440" cy="457200"/>
          </a:xfrm>
          <a:prstGeom prst="rect">
            <a:avLst/>
          </a:prstGeom>
          <a:noFill/>
          <a:ln/>
        </p:spPr>
        <p:txBody>
          <a:bodyPr wrap="square" lIns="0" tIns="0" rIns="0" bIns="0" rtlCol="0" anchor="ctr"/>
          <a:lstStyle/>
          <a:p>
            <a:pPr indent="0" marL="0">
              <a:lnSpc>
                <a:spcPct val="110000"/>
              </a:lnSpc>
              <a:buNone/>
            </a:pPr>
            <a:r>
              <a:rPr lang="en-US" sz="1050" dirty="0">
                <a:solidFill>
                  <a:srgbClr val="B0B0B0"/>
                </a:solidFill>
                <a:latin typeface="Calibri" pitchFamily="34" charset="0"/>
                <a:ea typeface="Calibri" pitchFamily="34" charset="-122"/>
                <a:cs typeface="Calibri" pitchFamily="34" charset="-120"/>
              </a:rPr>
              <a:t>Average apps a rider keeps installed</a:t>
            </a:r>
            <a:endParaRPr lang="en-US" sz="1050" dirty="0"/>
          </a:p>
        </p:txBody>
      </p:sp>
      <p:sp>
        <p:nvSpPr>
          <p:cNvPr id="29" name="Shape 27"/>
          <p:cNvSpPr/>
          <p:nvPr/>
        </p:nvSpPr>
        <p:spPr>
          <a:xfrm>
            <a:off x="6263640" y="4069080"/>
            <a:ext cx="5440680" cy="2148840"/>
          </a:xfrm>
          <a:prstGeom prst="roundRect">
            <a:avLst>
              <a:gd name="adj" fmla="val 3404"/>
            </a:avLst>
          </a:prstGeom>
          <a:solidFill>
            <a:srgbClr val="1A1A1A"/>
          </a:solidFill>
          <a:ln/>
        </p:spPr>
      </p:sp>
      <p:sp>
        <p:nvSpPr>
          <p:cNvPr id="30" name="Text 28"/>
          <p:cNvSpPr/>
          <p:nvPr/>
        </p:nvSpPr>
        <p:spPr>
          <a:xfrm>
            <a:off x="6492240" y="4206240"/>
            <a:ext cx="4937760" cy="320040"/>
          </a:xfrm>
          <a:prstGeom prst="rect">
            <a:avLst/>
          </a:prstGeom>
          <a:noFill/>
          <a:ln/>
        </p:spPr>
        <p:txBody>
          <a:bodyPr wrap="square" lIns="0" tIns="0" rIns="0" bIns="0" rtlCol="0" anchor="ctr"/>
          <a:lstStyle/>
          <a:p>
            <a:pPr indent="0" marL="0">
              <a:buNone/>
            </a:pPr>
            <a:r>
              <a:rPr lang="en-US" sz="1600" b="1" dirty="0">
                <a:solidFill>
                  <a:srgbClr val="F5A623"/>
                </a:solidFill>
                <a:latin typeface="Cambria" pitchFamily="34" charset="0"/>
                <a:ea typeface="Cambria" pitchFamily="34" charset="-122"/>
                <a:cs typeface="Cambria" pitchFamily="34" charset="-120"/>
              </a:rPr>
              <a:t>Top competitors</a:t>
            </a:r>
            <a:endParaRPr lang="en-US" sz="1600" dirty="0"/>
          </a:p>
        </p:txBody>
      </p:sp>
      <p:sp>
        <p:nvSpPr>
          <p:cNvPr id="31" name="Text 29"/>
          <p:cNvSpPr/>
          <p:nvPr/>
        </p:nvSpPr>
        <p:spPr>
          <a:xfrm>
            <a:off x="6492240" y="4663440"/>
            <a:ext cx="23774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Global</a:t>
            </a:r>
            <a:endParaRPr lang="en-US" sz="1200" dirty="0"/>
          </a:p>
        </p:txBody>
      </p:sp>
      <p:sp>
        <p:nvSpPr>
          <p:cNvPr id="32" name="Text 30"/>
          <p:cNvSpPr/>
          <p:nvPr/>
        </p:nvSpPr>
        <p:spPr>
          <a:xfrm>
            <a:off x="6492240" y="4956048"/>
            <a:ext cx="2377440" cy="548640"/>
          </a:xfrm>
          <a:prstGeom prst="rect">
            <a:avLst/>
          </a:prstGeom>
          <a:noFill/>
          <a:ln/>
        </p:spPr>
        <p:txBody>
          <a:bodyPr wrap="square" lIns="0" tIns="0" rIns="0" bIns="0" rtlCol="0" anchor="ctr"/>
          <a:lstStyle/>
          <a:p>
            <a:pPr indent="0" marL="0">
              <a:buNone/>
            </a:pPr>
            <a:r>
              <a:rPr lang="en-US" sz="1200" dirty="0">
                <a:solidFill>
                  <a:srgbClr val="B0B0B0"/>
                </a:solidFill>
                <a:latin typeface="Calibri" pitchFamily="34" charset="0"/>
                <a:ea typeface="Calibri" pitchFamily="34" charset="-122"/>
                <a:cs typeface="Calibri" pitchFamily="34" charset="-120"/>
              </a:rPr>
              <a:t>Uber   ·   Lyft   ·   Grab</a:t>
            </a:r>
            <a:endParaRPr lang="en-US" sz="1200" dirty="0"/>
          </a:p>
        </p:txBody>
      </p:sp>
      <p:sp>
        <p:nvSpPr>
          <p:cNvPr id="33" name="Text 31"/>
          <p:cNvSpPr/>
          <p:nvPr/>
        </p:nvSpPr>
        <p:spPr>
          <a:xfrm>
            <a:off x="9052560" y="4663440"/>
            <a:ext cx="23774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India</a:t>
            </a:r>
            <a:endParaRPr lang="en-US" sz="1200" dirty="0"/>
          </a:p>
        </p:txBody>
      </p:sp>
      <p:sp>
        <p:nvSpPr>
          <p:cNvPr id="34" name="Text 32"/>
          <p:cNvSpPr/>
          <p:nvPr/>
        </p:nvSpPr>
        <p:spPr>
          <a:xfrm>
            <a:off x="9052560" y="4956048"/>
            <a:ext cx="2377440" cy="548640"/>
          </a:xfrm>
          <a:prstGeom prst="rect">
            <a:avLst/>
          </a:prstGeom>
          <a:noFill/>
          <a:ln/>
        </p:spPr>
        <p:txBody>
          <a:bodyPr wrap="square" lIns="0" tIns="0" rIns="0" bIns="0" rtlCol="0" anchor="ctr"/>
          <a:lstStyle/>
          <a:p>
            <a:pPr indent="0" marL="0">
              <a:buNone/>
            </a:pPr>
            <a:r>
              <a:rPr lang="en-US" sz="1200" dirty="0">
                <a:solidFill>
                  <a:srgbClr val="B0B0B0"/>
                </a:solidFill>
                <a:latin typeface="Calibri" pitchFamily="34" charset="0"/>
                <a:ea typeface="Calibri" pitchFamily="34" charset="-122"/>
                <a:cs typeface="Calibri" pitchFamily="34" charset="-120"/>
              </a:rPr>
              <a:t>Ola   ·   Rapido   ·   BluSmart</a:t>
            </a:r>
            <a:endParaRPr lang="en-US" sz="1200" dirty="0"/>
          </a:p>
        </p:txBody>
      </p:sp>
      <p:sp>
        <p:nvSpPr>
          <p:cNvPr id="35" name="Shape 33"/>
          <p:cNvSpPr/>
          <p:nvPr/>
        </p:nvSpPr>
        <p:spPr>
          <a:xfrm>
            <a:off x="6492240" y="5623560"/>
            <a:ext cx="4937760" cy="0"/>
          </a:xfrm>
          <a:prstGeom prst="line">
            <a:avLst/>
          </a:prstGeom>
          <a:noFill/>
          <a:ln w="6350">
            <a:solidFill>
              <a:srgbClr val="6E6E6E"/>
            </a:solidFill>
            <a:prstDash val="solid"/>
          </a:ln>
        </p:spPr>
      </p:sp>
      <p:sp>
        <p:nvSpPr>
          <p:cNvPr id="36" name="Text 34"/>
          <p:cNvSpPr/>
          <p:nvPr/>
        </p:nvSpPr>
        <p:spPr>
          <a:xfrm>
            <a:off x="6492240" y="5760720"/>
            <a:ext cx="4937760" cy="365760"/>
          </a:xfrm>
          <a:prstGeom prst="rect">
            <a:avLst/>
          </a:prstGeom>
          <a:noFill/>
          <a:ln/>
        </p:spPr>
        <p:txBody>
          <a:bodyPr wrap="square" lIns="0" tIns="0" rIns="0" bIns="0" rtlCol="0" anchor="ctr"/>
          <a:lstStyle/>
          <a:p>
            <a:pPr indent="0" marL="0">
              <a:buNone/>
            </a:pPr>
            <a:r>
              <a:rPr lang="en-US" sz="1100" i="1" dirty="0">
                <a:solidFill>
                  <a:srgbClr val="B0B0B0"/>
                </a:solidFill>
                <a:latin typeface="Calibri" pitchFamily="34" charset="0"/>
                <a:ea typeface="Calibri" pitchFamily="34" charset="-122"/>
                <a:cs typeface="Calibri" pitchFamily="34" charset="-120"/>
              </a:rPr>
              <a:t>Fragmented category, near-zero switching cost — retention has to be earned every single ride.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457200" y="256032"/>
            <a:ext cx="457200" cy="310896"/>
          </a:xfrm>
          <a:prstGeom prst="roundRect">
            <a:avLst>
              <a:gd name="adj" fmla="val 17647"/>
            </a:avLst>
          </a:prstGeom>
          <a:solidFill>
            <a:srgbClr val="1A1A1A"/>
          </a:solidFill>
          <a:ln/>
        </p:spPr>
      </p:sp>
      <p:sp>
        <p:nvSpPr>
          <p:cNvPr id="3" name="Text 1"/>
          <p:cNvSpPr/>
          <p:nvPr/>
        </p:nvSpPr>
        <p:spPr>
          <a:xfrm>
            <a:off x="457200" y="256032"/>
            <a:ext cx="457200" cy="310896"/>
          </a:xfrm>
          <a:prstGeom prst="rect">
            <a:avLst/>
          </a:prstGeom>
          <a:noFill/>
          <a:ln/>
        </p:spPr>
        <p:txBody>
          <a:bodyPr wrap="square" rtlCol="0" anchor="ctr"/>
          <a:lstStyle/>
          <a:p>
            <a:pPr algn="ctr" indent="0" marL="0">
              <a:buNone/>
            </a:pPr>
            <a:r>
              <a:rPr lang="en-US" sz="1400" b="1" dirty="0">
                <a:solidFill>
                  <a:srgbClr val="F5A623"/>
                </a:solidFill>
                <a:latin typeface="Arial" pitchFamily="34" charset="0"/>
                <a:ea typeface="Arial" pitchFamily="34" charset="-122"/>
                <a:cs typeface="Arial" pitchFamily="34" charset="-120"/>
              </a:rPr>
              <a:t>R</a:t>
            </a:r>
            <a:endParaRPr lang="en-US" sz="1400" dirty="0"/>
          </a:p>
        </p:txBody>
      </p:sp>
      <p:sp>
        <p:nvSpPr>
          <p:cNvPr id="4" name="Text 2"/>
          <p:cNvSpPr/>
          <p:nvPr/>
        </p:nvSpPr>
        <p:spPr>
          <a:xfrm>
            <a:off x="1097280" y="274320"/>
            <a:ext cx="969264"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OVERVIEW</a:t>
            </a:r>
            <a:endParaRPr lang="en-US" sz="1000" dirty="0"/>
          </a:p>
        </p:txBody>
      </p:sp>
      <p:sp>
        <p:nvSpPr>
          <p:cNvPr id="5" name="Shape 3"/>
          <p:cNvSpPr/>
          <p:nvPr/>
        </p:nvSpPr>
        <p:spPr>
          <a:xfrm>
            <a:off x="2203704" y="274320"/>
            <a:ext cx="1751076" cy="274320"/>
          </a:xfrm>
          <a:prstGeom prst="roundRect">
            <a:avLst>
              <a:gd name="adj" fmla="val 50000"/>
            </a:avLst>
          </a:prstGeom>
          <a:solidFill>
            <a:srgbClr val="F5A623"/>
          </a:solidFill>
          <a:ln/>
        </p:spPr>
      </p:sp>
      <p:sp>
        <p:nvSpPr>
          <p:cNvPr id="6" name="Text 4"/>
          <p:cNvSpPr/>
          <p:nvPr/>
        </p:nvSpPr>
        <p:spPr>
          <a:xfrm>
            <a:off x="2203704" y="274320"/>
            <a:ext cx="1751076" cy="274320"/>
          </a:xfrm>
          <a:prstGeom prst="rect">
            <a:avLst/>
          </a:prstGeom>
          <a:noFill/>
          <a:ln/>
        </p:spPr>
        <p:txBody>
          <a:bodyPr wrap="square" lIns="0" tIns="0" rIns="0" bIns="0" rtlCol="0" anchor="ctr"/>
          <a:lstStyle/>
          <a:p>
            <a:pPr algn="ctr" indent="0" marL="0">
              <a:buNone/>
            </a:pPr>
            <a:r>
              <a:rPr lang="en-US" sz="1000" b="1" dirty="0">
                <a:solidFill>
                  <a:srgbClr val="1A1A00"/>
                </a:solidFill>
                <a:latin typeface="Calibri" pitchFamily="34" charset="0"/>
                <a:ea typeface="Calibri" pitchFamily="34" charset="-122"/>
                <a:cs typeface="Calibri" pitchFamily="34" charset="-120"/>
              </a:rPr>
              <a:t>PROBLEM STATEMENT</a:t>
            </a:r>
            <a:endParaRPr lang="en-US" sz="1000" dirty="0"/>
          </a:p>
        </p:txBody>
      </p:sp>
      <p:sp>
        <p:nvSpPr>
          <p:cNvPr id="7" name="Text 5"/>
          <p:cNvSpPr/>
          <p:nvPr/>
        </p:nvSpPr>
        <p:spPr>
          <a:xfrm>
            <a:off x="4091940" y="274320"/>
            <a:ext cx="1403604"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USER PERSONAS</a:t>
            </a:r>
            <a:endParaRPr lang="en-US" sz="1000" dirty="0"/>
          </a:p>
        </p:txBody>
      </p:sp>
      <p:sp>
        <p:nvSpPr>
          <p:cNvPr id="8" name="Text 6"/>
          <p:cNvSpPr/>
          <p:nvPr/>
        </p:nvSpPr>
        <p:spPr>
          <a:xfrm>
            <a:off x="5632704" y="274320"/>
            <a:ext cx="1056132"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SOLUTIONS</a:t>
            </a:r>
            <a:endParaRPr lang="en-US" sz="1000" dirty="0"/>
          </a:p>
        </p:txBody>
      </p:sp>
      <p:sp>
        <p:nvSpPr>
          <p:cNvPr id="9" name="Text 7"/>
          <p:cNvSpPr/>
          <p:nvPr/>
        </p:nvSpPr>
        <p:spPr>
          <a:xfrm>
            <a:off x="6825996" y="274320"/>
            <a:ext cx="1490472"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PRIORITIZATION</a:t>
            </a:r>
            <a:endParaRPr lang="en-US" sz="1000" dirty="0"/>
          </a:p>
        </p:txBody>
      </p:sp>
      <p:sp>
        <p:nvSpPr>
          <p:cNvPr id="10" name="Text 8"/>
          <p:cNvSpPr/>
          <p:nvPr/>
        </p:nvSpPr>
        <p:spPr>
          <a:xfrm>
            <a:off x="8453628" y="274320"/>
            <a:ext cx="621792"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KPIs</a:t>
            </a:r>
            <a:endParaRPr lang="en-US" sz="1000" dirty="0"/>
          </a:p>
        </p:txBody>
      </p:sp>
      <p:sp>
        <p:nvSpPr>
          <p:cNvPr id="11" name="Text 9"/>
          <p:cNvSpPr/>
          <p:nvPr/>
        </p:nvSpPr>
        <p:spPr>
          <a:xfrm>
            <a:off x="457200" y="777240"/>
            <a:ext cx="112471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Problem statement</a:t>
            </a:r>
            <a:endParaRPr lang="en-US" sz="3000" dirty="0"/>
          </a:p>
        </p:txBody>
      </p:sp>
      <p:sp>
        <p:nvSpPr>
          <p:cNvPr id="12" name="Shape 10"/>
          <p:cNvSpPr/>
          <p:nvPr/>
        </p:nvSpPr>
        <p:spPr>
          <a:xfrm>
            <a:off x="457200" y="1554480"/>
            <a:ext cx="5394960" cy="1828800"/>
          </a:xfrm>
          <a:prstGeom prst="roundRect">
            <a:avLst>
              <a:gd name="adj" fmla="val 4000"/>
            </a:avLst>
          </a:prstGeom>
          <a:solidFill>
            <a:srgbClr val="1A1A1A"/>
          </a:solidFill>
          <a:ln/>
        </p:spPr>
      </p:sp>
      <p:sp>
        <p:nvSpPr>
          <p:cNvPr id="13" name="Text 11"/>
          <p:cNvSpPr/>
          <p:nvPr/>
        </p:nvSpPr>
        <p:spPr>
          <a:xfrm>
            <a:off x="685800" y="1691640"/>
            <a:ext cx="4937760" cy="1554480"/>
          </a:xfrm>
          <a:prstGeom prst="rect">
            <a:avLst/>
          </a:prstGeom>
          <a:noFill/>
          <a:ln/>
        </p:spPr>
        <p:txBody>
          <a:bodyPr wrap="square" lIns="0" tIns="0" rIns="0" bIns="0" rtlCol="0" anchor="t"/>
          <a:lstStyle/>
          <a:p>
            <a:pPr indent="0" marL="0">
              <a:lnSpc>
                <a:spcPct val="125000"/>
              </a:lnSpc>
              <a:buNone/>
            </a:pPr>
            <a:r>
              <a:rPr lang="en-US" sz="1300" b="1" dirty="0">
                <a:solidFill>
                  <a:srgbClr val="FFFFFF"/>
                </a:solidFill>
                <a:latin typeface="Calibri" pitchFamily="34" charset="0"/>
                <a:ea typeface="Calibri" pitchFamily="34" charset="-122"/>
                <a:cs typeface="Calibri" pitchFamily="34" charset="-120"/>
              </a:rPr>
              <a:t>Riders don't lack demand — they lack a reason to be loyal to one app </a:t>
            </a:r>
            <a:pPr indent="0" marL="0">
              <a:lnSpc>
                <a:spcPct val="125000"/>
              </a:lnSpc>
              <a:buNone/>
            </a:pPr>
            <a:r>
              <a:rPr lang="en-US" sz="1300" dirty="0">
                <a:solidFill>
                  <a:srgbClr val="B0B0B0"/>
                </a:solidFill>
                <a:latin typeface="Calibri" pitchFamily="34" charset="0"/>
                <a:ea typeface="Calibri" pitchFamily="34" charset="-122"/>
                <a:cs typeface="Calibri" pitchFamily="34" charset="-120"/>
              </a:rPr>
              <a:t>when price and ETA look nearly identical across platforms. Without an emotional or habitual anchor, every open of the app is a fresh negotiation, not a returning relationship.</a:t>
            </a:r>
            <a:endParaRPr lang="en-US" sz="1300" dirty="0"/>
          </a:p>
        </p:txBody>
      </p:sp>
      <p:sp>
        <p:nvSpPr>
          <p:cNvPr id="14" name="Text 12"/>
          <p:cNvSpPr/>
          <p:nvPr/>
        </p:nvSpPr>
        <p:spPr>
          <a:xfrm>
            <a:off x="457200" y="3429000"/>
            <a:ext cx="4572000" cy="320040"/>
          </a:xfrm>
          <a:prstGeom prst="rect">
            <a:avLst/>
          </a:prstGeom>
          <a:noFill/>
          <a:ln/>
        </p:spPr>
        <p:txBody>
          <a:bodyPr wrap="square" lIns="0" tIns="0" rIns="0" bIns="0" rtlCol="0" anchor="ctr"/>
          <a:lstStyle/>
          <a:p>
            <a:pPr indent="0" marL="0">
              <a:buNone/>
            </a:pPr>
            <a:r>
              <a:rPr lang="en-US" sz="1600" b="1" dirty="0">
                <a:solidFill>
                  <a:srgbClr val="F5A623"/>
                </a:solidFill>
                <a:latin typeface="Cambria" pitchFamily="34" charset="0"/>
                <a:ea typeface="Cambria" pitchFamily="34" charset="-122"/>
                <a:cs typeface="Cambria" pitchFamily="34" charset="-120"/>
              </a:rPr>
              <a:t>Key challenges</a:t>
            </a:r>
            <a:endParaRPr lang="en-US" sz="1600" dirty="0"/>
          </a:p>
        </p:txBody>
      </p:sp>
      <p:sp>
        <p:nvSpPr>
          <p:cNvPr id="15" name="Shape 13"/>
          <p:cNvSpPr/>
          <p:nvPr/>
        </p:nvSpPr>
        <p:spPr>
          <a:xfrm>
            <a:off x="457200" y="3794760"/>
            <a:ext cx="2606040" cy="1097280"/>
          </a:xfrm>
          <a:prstGeom prst="roundRect">
            <a:avLst>
              <a:gd name="adj" fmla="val 6667"/>
            </a:avLst>
          </a:prstGeom>
          <a:solidFill>
            <a:srgbClr val="1A1A1A"/>
          </a:solidFill>
          <a:ln/>
        </p:spPr>
      </p:sp>
      <p:sp>
        <p:nvSpPr>
          <p:cNvPr id="16" name="Text 14"/>
          <p:cNvSpPr/>
          <p:nvPr/>
        </p:nvSpPr>
        <p:spPr>
          <a:xfrm>
            <a:off x="594360" y="3886200"/>
            <a:ext cx="2331720" cy="274320"/>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Price-first switching</a:t>
            </a:r>
            <a:endParaRPr lang="en-US" sz="1200" dirty="0"/>
          </a:p>
        </p:txBody>
      </p:sp>
      <p:sp>
        <p:nvSpPr>
          <p:cNvPr id="17" name="Text 15"/>
          <p:cNvSpPr/>
          <p:nvPr/>
        </p:nvSpPr>
        <p:spPr>
          <a:xfrm>
            <a:off x="594360" y="4178808"/>
            <a:ext cx="2331720" cy="658368"/>
          </a:xfrm>
          <a:prstGeom prst="rect">
            <a:avLst/>
          </a:prstGeom>
          <a:noFill/>
          <a:ln/>
        </p:spPr>
        <p:txBody>
          <a:bodyPr wrap="square" lIns="0" tIns="0" rIns="0" bIns="0" rtlCol="0" anchor="ctr"/>
          <a:lstStyle/>
          <a:p>
            <a:pPr indent="0" marL="0">
              <a:lnSpc>
                <a:spcPct val="115000"/>
              </a:lnSpc>
              <a:buNone/>
            </a:pPr>
            <a:r>
              <a:rPr lang="en-US" sz="950" dirty="0">
                <a:solidFill>
                  <a:srgbClr val="B0B0B0"/>
                </a:solidFill>
                <a:latin typeface="Calibri" pitchFamily="34" charset="0"/>
                <a:ea typeface="Calibri" pitchFamily="34" charset="-122"/>
                <a:cs typeface="Calibri" pitchFamily="34" charset="-120"/>
              </a:rPr>
              <a:t>Riders compare fares across 2-3 apps before every booking, treating the platform as a commodity.</a:t>
            </a:r>
            <a:endParaRPr lang="en-US" sz="950" dirty="0"/>
          </a:p>
        </p:txBody>
      </p:sp>
      <p:sp>
        <p:nvSpPr>
          <p:cNvPr id="18" name="Shape 16"/>
          <p:cNvSpPr/>
          <p:nvPr/>
        </p:nvSpPr>
        <p:spPr>
          <a:xfrm>
            <a:off x="3200400" y="3794760"/>
            <a:ext cx="2606040" cy="1097280"/>
          </a:xfrm>
          <a:prstGeom prst="roundRect">
            <a:avLst>
              <a:gd name="adj" fmla="val 6667"/>
            </a:avLst>
          </a:prstGeom>
          <a:solidFill>
            <a:srgbClr val="1A1A1A"/>
          </a:solidFill>
          <a:ln/>
        </p:spPr>
      </p:sp>
      <p:sp>
        <p:nvSpPr>
          <p:cNvPr id="19" name="Text 17"/>
          <p:cNvSpPr/>
          <p:nvPr/>
        </p:nvSpPr>
        <p:spPr>
          <a:xfrm>
            <a:off x="3337560" y="3886200"/>
            <a:ext cx="2331720" cy="274320"/>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Inconsistent driver quality</a:t>
            </a:r>
            <a:endParaRPr lang="en-US" sz="1200" dirty="0"/>
          </a:p>
        </p:txBody>
      </p:sp>
      <p:sp>
        <p:nvSpPr>
          <p:cNvPr id="20" name="Text 18"/>
          <p:cNvSpPr/>
          <p:nvPr/>
        </p:nvSpPr>
        <p:spPr>
          <a:xfrm>
            <a:off x="3337560" y="4178808"/>
            <a:ext cx="2331720" cy="658368"/>
          </a:xfrm>
          <a:prstGeom prst="rect">
            <a:avLst/>
          </a:prstGeom>
          <a:noFill/>
          <a:ln/>
        </p:spPr>
        <p:txBody>
          <a:bodyPr wrap="square" lIns="0" tIns="0" rIns="0" bIns="0" rtlCol="0" anchor="ctr"/>
          <a:lstStyle/>
          <a:p>
            <a:pPr indent="0" marL="0">
              <a:lnSpc>
                <a:spcPct val="115000"/>
              </a:lnSpc>
              <a:buNone/>
            </a:pPr>
            <a:r>
              <a:rPr lang="en-US" sz="950" dirty="0">
                <a:solidFill>
                  <a:srgbClr val="B0B0B0"/>
                </a:solidFill>
                <a:latin typeface="Calibri" pitchFamily="34" charset="0"/>
                <a:ea typeface="Calibri" pitchFamily="34" charset="-122"/>
                <a:cs typeface="Calibri" pitchFamily="34" charset="-120"/>
              </a:rPr>
              <a:t>Unpredictable ride comfort and safety perception is the top cited reason for abandoning an app.</a:t>
            </a:r>
            <a:endParaRPr lang="en-US" sz="950" dirty="0"/>
          </a:p>
        </p:txBody>
      </p:sp>
      <p:sp>
        <p:nvSpPr>
          <p:cNvPr id="21" name="Shape 19"/>
          <p:cNvSpPr/>
          <p:nvPr/>
        </p:nvSpPr>
        <p:spPr>
          <a:xfrm>
            <a:off x="457200" y="5029200"/>
            <a:ext cx="2606040" cy="1097280"/>
          </a:xfrm>
          <a:prstGeom prst="roundRect">
            <a:avLst>
              <a:gd name="adj" fmla="val 6667"/>
            </a:avLst>
          </a:prstGeom>
          <a:solidFill>
            <a:srgbClr val="1A1A1A"/>
          </a:solidFill>
          <a:ln/>
        </p:spPr>
      </p:sp>
      <p:sp>
        <p:nvSpPr>
          <p:cNvPr id="22" name="Text 20"/>
          <p:cNvSpPr/>
          <p:nvPr/>
        </p:nvSpPr>
        <p:spPr>
          <a:xfrm>
            <a:off x="594360" y="5120640"/>
            <a:ext cx="2331720" cy="274320"/>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No habit loop</a:t>
            </a:r>
            <a:endParaRPr lang="en-US" sz="1200" dirty="0"/>
          </a:p>
        </p:txBody>
      </p:sp>
      <p:sp>
        <p:nvSpPr>
          <p:cNvPr id="23" name="Text 21"/>
          <p:cNvSpPr/>
          <p:nvPr/>
        </p:nvSpPr>
        <p:spPr>
          <a:xfrm>
            <a:off x="594360" y="5413248"/>
            <a:ext cx="2331720" cy="658368"/>
          </a:xfrm>
          <a:prstGeom prst="rect">
            <a:avLst/>
          </a:prstGeom>
          <a:noFill/>
          <a:ln/>
        </p:spPr>
        <p:txBody>
          <a:bodyPr wrap="square" lIns="0" tIns="0" rIns="0" bIns="0" rtlCol="0" anchor="ctr"/>
          <a:lstStyle/>
          <a:p>
            <a:pPr indent="0" marL="0">
              <a:lnSpc>
                <a:spcPct val="115000"/>
              </a:lnSpc>
              <a:buNone/>
            </a:pPr>
            <a:r>
              <a:rPr lang="en-US" sz="950" dirty="0">
                <a:solidFill>
                  <a:srgbClr val="B0B0B0"/>
                </a:solidFill>
                <a:latin typeface="Calibri" pitchFamily="34" charset="0"/>
                <a:ea typeface="Calibri" pitchFamily="34" charset="-122"/>
                <a:cs typeface="Calibri" pitchFamily="34" charset="-120"/>
              </a:rPr>
              <a:t>Nothing in-app rewards a rider for returning weekly — usage stays purely transactional.</a:t>
            </a:r>
            <a:endParaRPr lang="en-US" sz="950" dirty="0"/>
          </a:p>
        </p:txBody>
      </p:sp>
      <p:sp>
        <p:nvSpPr>
          <p:cNvPr id="24" name="Shape 22"/>
          <p:cNvSpPr/>
          <p:nvPr/>
        </p:nvSpPr>
        <p:spPr>
          <a:xfrm>
            <a:off x="3200400" y="5029200"/>
            <a:ext cx="2606040" cy="1097280"/>
          </a:xfrm>
          <a:prstGeom prst="roundRect">
            <a:avLst>
              <a:gd name="adj" fmla="val 6667"/>
            </a:avLst>
          </a:prstGeom>
          <a:solidFill>
            <a:srgbClr val="1A1A1A"/>
          </a:solidFill>
          <a:ln/>
        </p:spPr>
      </p:sp>
      <p:sp>
        <p:nvSpPr>
          <p:cNvPr id="25" name="Text 23"/>
          <p:cNvSpPr/>
          <p:nvPr/>
        </p:nvSpPr>
        <p:spPr>
          <a:xfrm>
            <a:off x="3337560" y="5120640"/>
            <a:ext cx="2331720" cy="274320"/>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Weak emotional connection</a:t>
            </a:r>
            <a:endParaRPr lang="en-US" sz="1200" dirty="0"/>
          </a:p>
        </p:txBody>
      </p:sp>
      <p:sp>
        <p:nvSpPr>
          <p:cNvPr id="26" name="Text 24"/>
          <p:cNvSpPr/>
          <p:nvPr/>
        </p:nvSpPr>
        <p:spPr>
          <a:xfrm>
            <a:off x="3337560" y="5413248"/>
            <a:ext cx="2331720" cy="658368"/>
          </a:xfrm>
          <a:prstGeom prst="rect">
            <a:avLst/>
          </a:prstGeom>
          <a:noFill/>
          <a:ln/>
        </p:spPr>
        <p:txBody>
          <a:bodyPr wrap="square" lIns="0" tIns="0" rIns="0" bIns="0" rtlCol="0" anchor="ctr"/>
          <a:lstStyle/>
          <a:p>
            <a:pPr indent="0" marL="0">
              <a:lnSpc>
                <a:spcPct val="115000"/>
              </a:lnSpc>
              <a:buNone/>
            </a:pPr>
            <a:r>
              <a:rPr lang="en-US" sz="950" dirty="0">
                <a:solidFill>
                  <a:srgbClr val="B0B0B0"/>
                </a:solidFill>
                <a:latin typeface="Calibri" pitchFamily="34" charset="0"/>
                <a:ea typeface="Calibri" pitchFamily="34" charset="-122"/>
                <a:cs typeface="Calibri" pitchFamily="34" charset="-120"/>
              </a:rPr>
              <a:t>Riders feel no attachment to a brand that only shows up as a fare and a map pin.</a:t>
            </a:r>
            <a:endParaRPr lang="en-US" sz="950" dirty="0"/>
          </a:p>
        </p:txBody>
      </p:sp>
      <p:sp>
        <p:nvSpPr>
          <p:cNvPr id="27" name="Shape 25"/>
          <p:cNvSpPr/>
          <p:nvPr/>
        </p:nvSpPr>
        <p:spPr>
          <a:xfrm>
            <a:off x="6126480" y="1554480"/>
            <a:ext cx="5577840" cy="4754880"/>
          </a:xfrm>
          <a:prstGeom prst="roundRect">
            <a:avLst>
              <a:gd name="adj" fmla="val 1538"/>
            </a:avLst>
          </a:prstGeom>
          <a:solidFill>
            <a:srgbClr val="141414"/>
          </a:solidFill>
          <a:ln w="12700">
            <a:solidFill>
              <a:srgbClr val="8A5A0F"/>
            </a:solidFill>
            <a:prstDash val="solid"/>
          </a:ln>
        </p:spPr>
      </p:sp>
      <p:sp>
        <p:nvSpPr>
          <p:cNvPr id="28" name="Text 26"/>
          <p:cNvSpPr/>
          <p:nvPr/>
        </p:nvSpPr>
        <p:spPr>
          <a:xfrm>
            <a:off x="6355080" y="1737360"/>
            <a:ext cx="512064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Business outcome if solved</a:t>
            </a:r>
            <a:endParaRPr lang="en-US" sz="1600" dirty="0"/>
          </a:p>
        </p:txBody>
      </p:sp>
      <p:sp>
        <p:nvSpPr>
          <p:cNvPr id="29" name="Shape 27"/>
          <p:cNvSpPr/>
          <p:nvPr/>
        </p:nvSpPr>
        <p:spPr>
          <a:xfrm>
            <a:off x="6355080" y="2286000"/>
            <a:ext cx="5120640" cy="594360"/>
          </a:xfrm>
          <a:prstGeom prst="roundRect">
            <a:avLst>
              <a:gd name="adj" fmla="val 9231"/>
            </a:avLst>
          </a:prstGeom>
          <a:solidFill>
            <a:srgbClr val="1A1A1A"/>
          </a:solidFill>
          <a:ln/>
        </p:spPr>
      </p:sp>
      <p:sp>
        <p:nvSpPr>
          <p:cNvPr id="30" name="Text 28"/>
          <p:cNvSpPr/>
          <p:nvPr/>
        </p:nvSpPr>
        <p:spPr>
          <a:xfrm>
            <a:off x="6537960" y="2286000"/>
            <a:ext cx="4754880" cy="5943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Increased retention and reduced churn</a:t>
            </a:r>
            <a:endParaRPr lang="en-US" sz="1250" dirty="0"/>
          </a:p>
        </p:txBody>
      </p:sp>
      <p:sp>
        <p:nvSpPr>
          <p:cNvPr id="31" name="Shape 29"/>
          <p:cNvSpPr/>
          <p:nvPr/>
        </p:nvSpPr>
        <p:spPr>
          <a:xfrm>
            <a:off x="6355080" y="3063240"/>
            <a:ext cx="5120640" cy="594360"/>
          </a:xfrm>
          <a:prstGeom prst="roundRect">
            <a:avLst>
              <a:gd name="adj" fmla="val 9231"/>
            </a:avLst>
          </a:prstGeom>
          <a:solidFill>
            <a:srgbClr val="1A1A1A"/>
          </a:solidFill>
          <a:ln/>
        </p:spPr>
      </p:sp>
      <p:sp>
        <p:nvSpPr>
          <p:cNvPr id="32" name="Text 30"/>
          <p:cNvSpPr/>
          <p:nvPr/>
        </p:nvSpPr>
        <p:spPr>
          <a:xfrm>
            <a:off x="6537960" y="3063240"/>
            <a:ext cx="4754880" cy="5943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Higher lifetime value per rider</a:t>
            </a:r>
            <a:endParaRPr lang="en-US" sz="1250" dirty="0"/>
          </a:p>
        </p:txBody>
      </p:sp>
      <p:sp>
        <p:nvSpPr>
          <p:cNvPr id="33" name="Shape 31"/>
          <p:cNvSpPr/>
          <p:nvPr/>
        </p:nvSpPr>
        <p:spPr>
          <a:xfrm>
            <a:off x="6355080" y="3840480"/>
            <a:ext cx="5120640" cy="594360"/>
          </a:xfrm>
          <a:prstGeom prst="roundRect">
            <a:avLst>
              <a:gd name="adj" fmla="val 9231"/>
            </a:avLst>
          </a:prstGeom>
          <a:solidFill>
            <a:srgbClr val="1A1A1A"/>
          </a:solidFill>
          <a:ln/>
        </p:spPr>
      </p:sp>
      <p:sp>
        <p:nvSpPr>
          <p:cNvPr id="34" name="Text 32"/>
          <p:cNvSpPr/>
          <p:nvPr/>
        </p:nvSpPr>
        <p:spPr>
          <a:xfrm>
            <a:off x="6537960" y="3840480"/>
            <a:ext cx="4754880" cy="5943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Stronger competitive moat vs. price wars</a:t>
            </a:r>
            <a:endParaRPr lang="en-US" sz="1250" dirty="0"/>
          </a:p>
        </p:txBody>
      </p:sp>
      <p:sp>
        <p:nvSpPr>
          <p:cNvPr id="35" name="Shape 33"/>
          <p:cNvSpPr/>
          <p:nvPr/>
        </p:nvSpPr>
        <p:spPr>
          <a:xfrm>
            <a:off x="6355080" y="4617720"/>
            <a:ext cx="5120640" cy="594360"/>
          </a:xfrm>
          <a:prstGeom prst="roundRect">
            <a:avLst>
              <a:gd name="adj" fmla="val 9231"/>
            </a:avLst>
          </a:prstGeom>
          <a:solidFill>
            <a:srgbClr val="1A1A1A"/>
          </a:solidFill>
          <a:ln/>
        </p:spPr>
      </p:sp>
      <p:sp>
        <p:nvSpPr>
          <p:cNvPr id="36" name="Text 34"/>
          <p:cNvSpPr/>
          <p:nvPr/>
        </p:nvSpPr>
        <p:spPr>
          <a:xfrm>
            <a:off x="6537960" y="4617720"/>
            <a:ext cx="4754880" cy="5943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Lower CAC — fewer riders need re-acquiring</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457200" y="256032"/>
            <a:ext cx="457200" cy="310896"/>
          </a:xfrm>
          <a:prstGeom prst="roundRect">
            <a:avLst>
              <a:gd name="adj" fmla="val 17647"/>
            </a:avLst>
          </a:prstGeom>
          <a:solidFill>
            <a:srgbClr val="1A1A1A"/>
          </a:solidFill>
          <a:ln/>
        </p:spPr>
      </p:sp>
      <p:sp>
        <p:nvSpPr>
          <p:cNvPr id="3" name="Text 1"/>
          <p:cNvSpPr/>
          <p:nvPr/>
        </p:nvSpPr>
        <p:spPr>
          <a:xfrm>
            <a:off x="457200" y="256032"/>
            <a:ext cx="457200" cy="310896"/>
          </a:xfrm>
          <a:prstGeom prst="rect">
            <a:avLst/>
          </a:prstGeom>
          <a:noFill/>
          <a:ln/>
        </p:spPr>
        <p:txBody>
          <a:bodyPr wrap="square" rtlCol="0" anchor="ctr"/>
          <a:lstStyle/>
          <a:p>
            <a:pPr algn="ctr" indent="0" marL="0">
              <a:buNone/>
            </a:pPr>
            <a:r>
              <a:rPr lang="en-US" sz="1400" b="1" dirty="0">
                <a:solidFill>
                  <a:srgbClr val="F5A623"/>
                </a:solidFill>
                <a:latin typeface="Arial" pitchFamily="34" charset="0"/>
                <a:ea typeface="Arial" pitchFamily="34" charset="-122"/>
                <a:cs typeface="Arial" pitchFamily="34" charset="-120"/>
              </a:rPr>
              <a:t>R</a:t>
            </a:r>
            <a:endParaRPr lang="en-US" sz="1400" dirty="0"/>
          </a:p>
        </p:txBody>
      </p:sp>
      <p:sp>
        <p:nvSpPr>
          <p:cNvPr id="4" name="Text 2"/>
          <p:cNvSpPr/>
          <p:nvPr/>
        </p:nvSpPr>
        <p:spPr>
          <a:xfrm>
            <a:off x="1097280" y="274320"/>
            <a:ext cx="969264"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OVERVIEW</a:t>
            </a:r>
            <a:endParaRPr lang="en-US" sz="1000" dirty="0"/>
          </a:p>
        </p:txBody>
      </p:sp>
      <p:sp>
        <p:nvSpPr>
          <p:cNvPr id="5" name="Text 3"/>
          <p:cNvSpPr/>
          <p:nvPr/>
        </p:nvSpPr>
        <p:spPr>
          <a:xfrm>
            <a:off x="2203704" y="274320"/>
            <a:ext cx="1751076"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PROBLEM STATEMENT</a:t>
            </a:r>
            <a:endParaRPr lang="en-US" sz="1000" dirty="0"/>
          </a:p>
        </p:txBody>
      </p:sp>
      <p:sp>
        <p:nvSpPr>
          <p:cNvPr id="6" name="Shape 4"/>
          <p:cNvSpPr/>
          <p:nvPr/>
        </p:nvSpPr>
        <p:spPr>
          <a:xfrm>
            <a:off x="4091940" y="274320"/>
            <a:ext cx="1403604" cy="274320"/>
          </a:xfrm>
          <a:prstGeom prst="roundRect">
            <a:avLst>
              <a:gd name="adj" fmla="val 50000"/>
            </a:avLst>
          </a:prstGeom>
          <a:solidFill>
            <a:srgbClr val="F5A623"/>
          </a:solidFill>
          <a:ln/>
        </p:spPr>
      </p:sp>
      <p:sp>
        <p:nvSpPr>
          <p:cNvPr id="7" name="Text 5"/>
          <p:cNvSpPr/>
          <p:nvPr/>
        </p:nvSpPr>
        <p:spPr>
          <a:xfrm>
            <a:off x="4091940" y="274320"/>
            <a:ext cx="1403604" cy="274320"/>
          </a:xfrm>
          <a:prstGeom prst="rect">
            <a:avLst/>
          </a:prstGeom>
          <a:noFill/>
          <a:ln/>
        </p:spPr>
        <p:txBody>
          <a:bodyPr wrap="square" lIns="0" tIns="0" rIns="0" bIns="0" rtlCol="0" anchor="ctr"/>
          <a:lstStyle/>
          <a:p>
            <a:pPr algn="ctr" indent="0" marL="0">
              <a:buNone/>
            </a:pPr>
            <a:r>
              <a:rPr lang="en-US" sz="1000" b="1" dirty="0">
                <a:solidFill>
                  <a:srgbClr val="1A1A00"/>
                </a:solidFill>
                <a:latin typeface="Calibri" pitchFamily="34" charset="0"/>
                <a:ea typeface="Calibri" pitchFamily="34" charset="-122"/>
                <a:cs typeface="Calibri" pitchFamily="34" charset="-120"/>
              </a:rPr>
              <a:t>USER PERSONAS</a:t>
            </a:r>
            <a:endParaRPr lang="en-US" sz="1000" dirty="0"/>
          </a:p>
        </p:txBody>
      </p:sp>
      <p:sp>
        <p:nvSpPr>
          <p:cNvPr id="8" name="Text 6"/>
          <p:cNvSpPr/>
          <p:nvPr/>
        </p:nvSpPr>
        <p:spPr>
          <a:xfrm>
            <a:off x="5632704" y="274320"/>
            <a:ext cx="1056132"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SOLUTIONS</a:t>
            </a:r>
            <a:endParaRPr lang="en-US" sz="1000" dirty="0"/>
          </a:p>
        </p:txBody>
      </p:sp>
      <p:sp>
        <p:nvSpPr>
          <p:cNvPr id="9" name="Text 7"/>
          <p:cNvSpPr/>
          <p:nvPr/>
        </p:nvSpPr>
        <p:spPr>
          <a:xfrm>
            <a:off x="6825996" y="274320"/>
            <a:ext cx="1490472"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PRIORITIZATION</a:t>
            </a:r>
            <a:endParaRPr lang="en-US" sz="1000" dirty="0"/>
          </a:p>
        </p:txBody>
      </p:sp>
      <p:sp>
        <p:nvSpPr>
          <p:cNvPr id="10" name="Text 8"/>
          <p:cNvSpPr/>
          <p:nvPr/>
        </p:nvSpPr>
        <p:spPr>
          <a:xfrm>
            <a:off x="8453628" y="274320"/>
            <a:ext cx="621792"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KPIs</a:t>
            </a:r>
            <a:endParaRPr lang="en-US" sz="1000" dirty="0"/>
          </a:p>
        </p:txBody>
      </p:sp>
      <p:sp>
        <p:nvSpPr>
          <p:cNvPr id="11" name="Text 9"/>
          <p:cNvSpPr/>
          <p:nvPr/>
        </p:nvSpPr>
        <p:spPr>
          <a:xfrm>
            <a:off x="457200" y="777240"/>
            <a:ext cx="112471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User personas</a:t>
            </a:r>
            <a:endParaRPr lang="en-US" sz="3000" dirty="0"/>
          </a:p>
        </p:txBody>
      </p:sp>
      <p:sp>
        <p:nvSpPr>
          <p:cNvPr id="12" name="Text 10"/>
          <p:cNvSpPr/>
          <p:nvPr/>
        </p:nvSpPr>
        <p:spPr>
          <a:xfrm>
            <a:off x="457200" y="1417320"/>
            <a:ext cx="3200400" cy="274320"/>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Primary segment</a:t>
            </a:r>
            <a:endParaRPr lang="en-US" sz="1200" dirty="0"/>
          </a:p>
        </p:txBody>
      </p:sp>
      <p:sp>
        <p:nvSpPr>
          <p:cNvPr id="13" name="Text 11"/>
          <p:cNvSpPr/>
          <p:nvPr/>
        </p:nvSpPr>
        <p:spPr>
          <a:xfrm>
            <a:off x="457200" y="1691640"/>
            <a:ext cx="3291840" cy="548640"/>
          </a:xfrm>
          <a:prstGeom prst="rect">
            <a:avLst/>
          </a:prstGeom>
          <a:noFill/>
          <a:ln/>
        </p:spPr>
        <p:txBody>
          <a:bodyPr wrap="square" lIns="0" tIns="0" rIns="0" bIns="0" rtlCol="0" anchor="ctr"/>
          <a:lstStyle/>
          <a:p>
            <a:pPr indent="0" marL="0">
              <a:lnSpc>
                <a:spcPct val="115000"/>
              </a:lnSpc>
              <a:buNone/>
            </a:pPr>
            <a:r>
              <a:rPr lang="en-US" sz="1050" dirty="0">
                <a:solidFill>
                  <a:srgbClr val="B0B0B0"/>
                </a:solidFill>
                <a:latin typeface="Calibri" pitchFamily="34" charset="0"/>
                <a:ea typeface="Calibri" pitchFamily="34" charset="-122"/>
                <a:cs typeface="Calibri" pitchFamily="34" charset="-120"/>
              </a:rPr>
              <a:t>Price-sensitive riders comparing apps every trip, with no formed loyalty to any single platform.</a:t>
            </a:r>
            <a:endParaRPr lang="en-US" sz="1050" dirty="0"/>
          </a:p>
        </p:txBody>
      </p:sp>
      <p:sp>
        <p:nvSpPr>
          <p:cNvPr id="14" name="Text 12"/>
          <p:cNvSpPr/>
          <p:nvPr/>
        </p:nvSpPr>
        <p:spPr>
          <a:xfrm>
            <a:off x="3931920" y="1737360"/>
            <a:ext cx="4297680" cy="457200"/>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Why?  High switching risk on every booking</a:t>
            </a:r>
            <a:endParaRPr lang="en-US" sz="1100" dirty="0"/>
          </a:p>
        </p:txBody>
      </p:sp>
      <p:sp>
        <p:nvSpPr>
          <p:cNvPr id="15" name="Text 13"/>
          <p:cNvSpPr/>
          <p:nvPr/>
        </p:nvSpPr>
        <p:spPr>
          <a:xfrm>
            <a:off x="8503920" y="1417320"/>
            <a:ext cx="3200400" cy="274320"/>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Secondary segment</a:t>
            </a:r>
            <a:endParaRPr lang="en-US" sz="1200" dirty="0"/>
          </a:p>
        </p:txBody>
      </p:sp>
      <p:sp>
        <p:nvSpPr>
          <p:cNvPr id="16" name="Text 14"/>
          <p:cNvSpPr/>
          <p:nvPr/>
        </p:nvSpPr>
        <p:spPr>
          <a:xfrm>
            <a:off x="8503920" y="1691640"/>
            <a:ext cx="3200400" cy="548640"/>
          </a:xfrm>
          <a:prstGeom prst="rect">
            <a:avLst/>
          </a:prstGeom>
          <a:noFill/>
          <a:ln/>
        </p:spPr>
        <p:txBody>
          <a:bodyPr wrap="square" lIns="0" tIns="0" rIns="0" bIns="0" rtlCol="0" anchor="ctr"/>
          <a:lstStyle/>
          <a:p>
            <a:pPr indent="0" marL="0">
              <a:lnSpc>
                <a:spcPct val="115000"/>
              </a:lnSpc>
              <a:buNone/>
            </a:pPr>
            <a:r>
              <a:rPr lang="en-US" sz="1050" dirty="0">
                <a:solidFill>
                  <a:srgbClr val="B0B0B0"/>
                </a:solidFill>
                <a:latin typeface="Calibri" pitchFamily="34" charset="0"/>
                <a:ea typeface="Calibri" pitchFamily="34" charset="-122"/>
                <a:cs typeface="Calibri" pitchFamily="34" charset="-120"/>
              </a:rPr>
              <a:t>Loyal daily commuters already anchored to one app — high value, easy to take for granted.</a:t>
            </a:r>
            <a:endParaRPr lang="en-US" sz="1050" dirty="0"/>
          </a:p>
        </p:txBody>
      </p:sp>
      <p:sp>
        <p:nvSpPr>
          <p:cNvPr id="17" name="Shape 15"/>
          <p:cNvSpPr/>
          <p:nvPr/>
        </p:nvSpPr>
        <p:spPr>
          <a:xfrm>
            <a:off x="457200" y="2331720"/>
            <a:ext cx="3611880" cy="3977640"/>
          </a:xfrm>
          <a:prstGeom prst="roundRect">
            <a:avLst>
              <a:gd name="adj" fmla="val 2532"/>
            </a:avLst>
          </a:prstGeom>
          <a:solidFill>
            <a:srgbClr val="1A1A1A"/>
          </a:solidFill>
          <a:ln/>
        </p:spPr>
      </p:sp>
      <p:sp>
        <p:nvSpPr>
          <p:cNvPr id="18" name="Shape 16"/>
          <p:cNvSpPr/>
          <p:nvPr/>
        </p:nvSpPr>
        <p:spPr>
          <a:xfrm>
            <a:off x="685800" y="2560320"/>
            <a:ext cx="594360" cy="594360"/>
          </a:xfrm>
          <a:prstGeom prst="ellipse">
            <a:avLst/>
          </a:prstGeom>
          <a:solidFill>
            <a:srgbClr val="8A5A0F"/>
          </a:solidFill>
          <a:ln/>
        </p:spPr>
      </p:sp>
      <p:sp>
        <p:nvSpPr>
          <p:cNvPr id="19" name="Text 17"/>
          <p:cNvSpPr/>
          <p:nvPr/>
        </p:nvSpPr>
        <p:spPr>
          <a:xfrm>
            <a:off x="685800" y="256032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P</a:t>
            </a:r>
            <a:endParaRPr lang="en-US" sz="2000" dirty="0"/>
          </a:p>
        </p:txBody>
      </p:sp>
      <p:sp>
        <p:nvSpPr>
          <p:cNvPr id="20" name="Text 18"/>
          <p:cNvSpPr/>
          <p:nvPr/>
        </p:nvSpPr>
        <p:spPr>
          <a:xfrm>
            <a:off x="1417320" y="2587752"/>
            <a:ext cx="23774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Priya, 24</a:t>
            </a:r>
            <a:endParaRPr lang="en-US" sz="1400" dirty="0"/>
          </a:p>
        </p:txBody>
      </p:sp>
      <p:sp>
        <p:nvSpPr>
          <p:cNvPr id="21" name="Text 19"/>
          <p:cNvSpPr/>
          <p:nvPr/>
        </p:nvSpPr>
        <p:spPr>
          <a:xfrm>
            <a:off x="1417320" y="2862072"/>
            <a:ext cx="2377440" cy="274320"/>
          </a:xfrm>
          <a:prstGeom prst="rect">
            <a:avLst/>
          </a:prstGeom>
          <a:noFill/>
          <a:ln/>
        </p:spPr>
        <p:txBody>
          <a:bodyPr wrap="square" lIns="0" tIns="0" rIns="0" bIns="0" rtlCol="0" anchor="ctr"/>
          <a:lstStyle/>
          <a:p>
            <a:pPr indent="0" marL="0">
              <a:buNone/>
            </a:pPr>
            <a:r>
              <a:rPr lang="en-US" sz="1050" dirty="0">
                <a:solidFill>
                  <a:srgbClr val="F5A623"/>
                </a:solidFill>
                <a:latin typeface="Calibri" pitchFamily="34" charset="0"/>
                <a:ea typeface="Calibri" pitchFamily="34" charset="-122"/>
                <a:cs typeface="Calibri" pitchFamily="34" charset="-120"/>
              </a:rPr>
              <a:t>Marketing executive  ·  Mumbai</a:t>
            </a:r>
            <a:endParaRPr lang="en-US" sz="1050" dirty="0"/>
          </a:p>
        </p:txBody>
      </p:sp>
      <p:sp>
        <p:nvSpPr>
          <p:cNvPr id="22" name="Shape 20"/>
          <p:cNvSpPr/>
          <p:nvPr/>
        </p:nvSpPr>
        <p:spPr>
          <a:xfrm>
            <a:off x="685800" y="3337560"/>
            <a:ext cx="3154680" cy="0"/>
          </a:xfrm>
          <a:prstGeom prst="line">
            <a:avLst/>
          </a:prstGeom>
          <a:noFill/>
          <a:ln w="6350">
            <a:solidFill>
              <a:srgbClr val="6E6E6E"/>
            </a:solidFill>
            <a:prstDash val="solid"/>
          </a:ln>
        </p:spPr>
      </p:sp>
      <p:sp>
        <p:nvSpPr>
          <p:cNvPr id="23" name="Text 21"/>
          <p:cNvSpPr/>
          <p:nvPr/>
        </p:nvSpPr>
        <p:spPr>
          <a:xfrm>
            <a:off x="685800" y="3474720"/>
            <a:ext cx="3154680" cy="274320"/>
          </a:xfrm>
          <a:prstGeom prst="rect">
            <a:avLst/>
          </a:prstGeom>
          <a:noFill/>
          <a:ln/>
        </p:spPr>
        <p:txBody>
          <a:bodyPr wrap="square" lIns="0" tIns="0" rIns="0" bIns="0" rtlCol="0" anchor="ctr"/>
          <a:lstStyle/>
          <a:p>
            <a:pPr indent="0" marL="0">
              <a:buNone/>
            </a:pPr>
            <a:r>
              <a:rPr lang="en-US" sz="1150" b="1" dirty="0">
                <a:solidFill>
                  <a:srgbClr val="E05A4E"/>
                </a:solidFill>
                <a:latin typeface="Calibri" pitchFamily="34" charset="0"/>
                <a:ea typeface="Calibri" pitchFamily="34" charset="-122"/>
                <a:cs typeface="Calibri" pitchFamily="34" charset="-120"/>
              </a:rPr>
              <a:t>Pain points</a:t>
            </a:r>
            <a:endParaRPr lang="en-US" sz="1150" dirty="0"/>
          </a:p>
        </p:txBody>
      </p:sp>
      <p:sp>
        <p:nvSpPr>
          <p:cNvPr id="24" name="Text 22"/>
          <p:cNvSpPr/>
          <p:nvPr/>
        </p:nvSpPr>
        <p:spPr>
          <a:xfrm>
            <a:off x="685800" y="3776472"/>
            <a:ext cx="3154680" cy="1005840"/>
          </a:xfrm>
          <a:prstGeom prst="rect">
            <a:avLst/>
          </a:prstGeom>
          <a:noFill/>
          <a:ln/>
        </p:spPr>
        <p:txBody>
          <a:bodyPr wrap="square" lIns="0" tIns="0" rIns="0" bIns="0" rtlCol="0" anchor="ctr"/>
          <a:lstStyle/>
          <a:p>
            <a:pPr marL="342900" indent="-342900">
              <a:lnSpc>
                <a:spcPct val="120000"/>
              </a:lnSpc>
              <a:buSzPct val="100000"/>
              <a:buChar char="•"/>
            </a:pPr>
            <a:r>
              <a:rPr lang="en-US" sz="1000" dirty="0">
                <a:solidFill>
                  <a:srgbClr val="B0B0B0"/>
                </a:solidFill>
                <a:latin typeface="Calibri" pitchFamily="34" charset="0"/>
                <a:ea typeface="Calibri" pitchFamily="34" charset="-122"/>
                <a:cs typeface="Calibri" pitchFamily="34" charset="-120"/>
              </a:rPr>
              <a:t>Checks fares across 3 apps before booking</a:t>
            </a:r>
            <a:endParaRPr lang="en-US" sz="1000" dirty="0"/>
          </a:p>
          <a:p>
            <a:pPr marL="342900" indent="-342900">
              <a:lnSpc>
                <a:spcPct val="120000"/>
              </a:lnSpc>
              <a:buSzPct val="100000"/>
              <a:buChar char="•"/>
            </a:pPr>
            <a:r>
              <a:rPr lang="en-US" sz="1000" dirty="0">
                <a:solidFill>
                  <a:srgbClr val="B0B0B0"/>
                </a:solidFill>
                <a:latin typeface="Calibri" pitchFamily="34" charset="0"/>
                <a:ea typeface="Calibri" pitchFamily="34" charset="-122"/>
                <a:cs typeface="Calibri" pitchFamily="34" charset="-120"/>
              </a:rPr>
              <a:t>No incentive to stick with one platform</a:t>
            </a:r>
            <a:endParaRPr lang="en-US" sz="1000" dirty="0"/>
          </a:p>
        </p:txBody>
      </p:sp>
      <p:sp>
        <p:nvSpPr>
          <p:cNvPr id="25" name="Text 23"/>
          <p:cNvSpPr/>
          <p:nvPr/>
        </p:nvSpPr>
        <p:spPr>
          <a:xfrm>
            <a:off x="685800" y="4846320"/>
            <a:ext cx="3154680" cy="274320"/>
          </a:xfrm>
          <a:prstGeom prst="rect">
            <a:avLst/>
          </a:prstGeom>
          <a:noFill/>
          <a:ln/>
        </p:spPr>
        <p:txBody>
          <a:bodyPr wrap="square" lIns="0" tIns="0" rIns="0" bIns="0" rtlCol="0" anchor="ctr"/>
          <a:lstStyle/>
          <a:p>
            <a:pPr indent="0" marL="0">
              <a:buNone/>
            </a:pPr>
            <a:r>
              <a:rPr lang="en-US" sz="1150" b="1" dirty="0">
                <a:solidFill>
                  <a:srgbClr val="3DBE6C"/>
                </a:solidFill>
                <a:latin typeface="Calibri" pitchFamily="34" charset="0"/>
                <a:ea typeface="Calibri" pitchFamily="34" charset="-122"/>
                <a:cs typeface="Calibri" pitchFamily="34" charset="-120"/>
              </a:rPr>
              <a:t>Goals and needs</a:t>
            </a:r>
            <a:endParaRPr lang="en-US" sz="1150" dirty="0"/>
          </a:p>
        </p:txBody>
      </p:sp>
      <p:sp>
        <p:nvSpPr>
          <p:cNvPr id="26" name="Text 24"/>
          <p:cNvSpPr/>
          <p:nvPr/>
        </p:nvSpPr>
        <p:spPr>
          <a:xfrm>
            <a:off x="685800" y="5148072"/>
            <a:ext cx="3154680" cy="1005840"/>
          </a:xfrm>
          <a:prstGeom prst="rect">
            <a:avLst/>
          </a:prstGeom>
          <a:noFill/>
          <a:ln/>
        </p:spPr>
        <p:txBody>
          <a:bodyPr wrap="square" lIns="0" tIns="0" rIns="0" bIns="0" rtlCol="0" anchor="ctr"/>
          <a:lstStyle/>
          <a:p>
            <a:pPr marL="342900" indent="-342900">
              <a:lnSpc>
                <a:spcPct val="120000"/>
              </a:lnSpc>
              <a:buSzPct val="100000"/>
              <a:buChar char="•"/>
            </a:pPr>
            <a:r>
              <a:rPr lang="en-US" sz="1000" dirty="0">
                <a:solidFill>
                  <a:srgbClr val="B0B0B0"/>
                </a:solidFill>
                <a:latin typeface="Calibri" pitchFamily="34" charset="0"/>
                <a:ea typeface="Calibri" pitchFamily="34" charset="-122"/>
                <a:cs typeface="Calibri" pitchFamily="34" charset="-120"/>
              </a:rPr>
              <a:t>A reason to default to one app</a:t>
            </a:r>
            <a:endParaRPr lang="en-US" sz="1000" dirty="0"/>
          </a:p>
          <a:p>
            <a:pPr marL="342900" indent="-342900">
              <a:lnSpc>
                <a:spcPct val="120000"/>
              </a:lnSpc>
              <a:buSzPct val="100000"/>
              <a:buChar char="•"/>
            </a:pPr>
            <a:r>
              <a:rPr lang="en-US" sz="1000" dirty="0">
                <a:solidFill>
                  <a:srgbClr val="B0B0B0"/>
                </a:solidFill>
                <a:latin typeface="Calibri" pitchFamily="34" charset="0"/>
                <a:ea typeface="Calibri" pitchFamily="34" charset="-122"/>
                <a:cs typeface="Calibri" pitchFamily="34" charset="-120"/>
              </a:rPr>
              <a:t>Value beyond just the lowest fare</a:t>
            </a:r>
            <a:endParaRPr lang="en-US" sz="1000" dirty="0"/>
          </a:p>
        </p:txBody>
      </p:sp>
      <p:sp>
        <p:nvSpPr>
          <p:cNvPr id="27" name="Shape 25"/>
          <p:cNvSpPr/>
          <p:nvPr/>
        </p:nvSpPr>
        <p:spPr>
          <a:xfrm>
            <a:off x="4251960" y="2331720"/>
            <a:ext cx="3611880" cy="3977640"/>
          </a:xfrm>
          <a:prstGeom prst="roundRect">
            <a:avLst>
              <a:gd name="adj" fmla="val 2532"/>
            </a:avLst>
          </a:prstGeom>
          <a:solidFill>
            <a:srgbClr val="1A1A1A"/>
          </a:solidFill>
          <a:ln/>
        </p:spPr>
      </p:sp>
      <p:sp>
        <p:nvSpPr>
          <p:cNvPr id="28" name="Shape 26"/>
          <p:cNvSpPr/>
          <p:nvPr/>
        </p:nvSpPr>
        <p:spPr>
          <a:xfrm>
            <a:off x="4480560" y="2560320"/>
            <a:ext cx="594360" cy="594360"/>
          </a:xfrm>
          <a:prstGeom prst="ellipse">
            <a:avLst/>
          </a:prstGeom>
          <a:solidFill>
            <a:srgbClr val="8A5A0F"/>
          </a:solidFill>
          <a:ln/>
        </p:spPr>
      </p:sp>
      <p:sp>
        <p:nvSpPr>
          <p:cNvPr id="29" name="Text 27"/>
          <p:cNvSpPr/>
          <p:nvPr/>
        </p:nvSpPr>
        <p:spPr>
          <a:xfrm>
            <a:off x="4480560" y="256032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a:t>
            </a:r>
            <a:endParaRPr lang="en-US" sz="2000" dirty="0"/>
          </a:p>
        </p:txBody>
      </p:sp>
      <p:sp>
        <p:nvSpPr>
          <p:cNvPr id="30" name="Text 28"/>
          <p:cNvSpPr/>
          <p:nvPr/>
        </p:nvSpPr>
        <p:spPr>
          <a:xfrm>
            <a:off x="5212080" y="2587752"/>
            <a:ext cx="23774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Aarav, 27</a:t>
            </a:r>
            <a:endParaRPr lang="en-US" sz="1400" dirty="0"/>
          </a:p>
        </p:txBody>
      </p:sp>
      <p:sp>
        <p:nvSpPr>
          <p:cNvPr id="31" name="Text 29"/>
          <p:cNvSpPr/>
          <p:nvPr/>
        </p:nvSpPr>
        <p:spPr>
          <a:xfrm>
            <a:off x="5212080" y="2862072"/>
            <a:ext cx="2377440" cy="274320"/>
          </a:xfrm>
          <a:prstGeom prst="rect">
            <a:avLst/>
          </a:prstGeom>
          <a:noFill/>
          <a:ln/>
        </p:spPr>
        <p:txBody>
          <a:bodyPr wrap="square" lIns="0" tIns="0" rIns="0" bIns="0" rtlCol="0" anchor="ctr"/>
          <a:lstStyle/>
          <a:p>
            <a:pPr indent="0" marL="0">
              <a:buNone/>
            </a:pPr>
            <a:r>
              <a:rPr lang="en-US" sz="1050" dirty="0">
                <a:solidFill>
                  <a:srgbClr val="F5A623"/>
                </a:solidFill>
                <a:latin typeface="Calibri" pitchFamily="34" charset="0"/>
                <a:ea typeface="Calibri" pitchFamily="34" charset="-122"/>
                <a:cs typeface="Calibri" pitchFamily="34" charset="-120"/>
              </a:rPr>
              <a:t>Software engineer  ·  Bengaluru</a:t>
            </a:r>
            <a:endParaRPr lang="en-US" sz="1050" dirty="0"/>
          </a:p>
        </p:txBody>
      </p:sp>
      <p:sp>
        <p:nvSpPr>
          <p:cNvPr id="32" name="Shape 30"/>
          <p:cNvSpPr/>
          <p:nvPr/>
        </p:nvSpPr>
        <p:spPr>
          <a:xfrm>
            <a:off x="4480560" y="3337560"/>
            <a:ext cx="3154680" cy="0"/>
          </a:xfrm>
          <a:prstGeom prst="line">
            <a:avLst/>
          </a:prstGeom>
          <a:noFill/>
          <a:ln w="6350">
            <a:solidFill>
              <a:srgbClr val="6E6E6E"/>
            </a:solidFill>
            <a:prstDash val="solid"/>
          </a:ln>
        </p:spPr>
      </p:sp>
      <p:sp>
        <p:nvSpPr>
          <p:cNvPr id="33" name="Text 31"/>
          <p:cNvSpPr/>
          <p:nvPr/>
        </p:nvSpPr>
        <p:spPr>
          <a:xfrm>
            <a:off x="4480560" y="3474720"/>
            <a:ext cx="3154680" cy="274320"/>
          </a:xfrm>
          <a:prstGeom prst="rect">
            <a:avLst/>
          </a:prstGeom>
          <a:noFill/>
          <a:ln/>
        </p:spPr>
        <p:txBody>
          <a:bodyPr wrap="square" lIns="0" tIns="0" rIns="0" bIns="0" rtlCol="0" anchor="ctr"/>
          <a:lstStyle/>
          <a:p>
            <a:pPr indent="0" marL="0">
              <a:buNone/>
            </a:pPr>
            <a:r>
              <a:rPr lang="en-US" sz="1150" b="1" dirty="0">
                <a:solidFill>
                  <a:srgbClr val="E05A4E"/>
                </a:solidFill>
                <a:latin typeface="Calibri" pitchFamily="34" charset="0"/>
                <a:ea typeface="Calibri" pitchFamily="34" charset="-122"/>
                <a:cs typeface="Calibri" pitchFamily="34" charset="-120"/>
              </a:rPr>
              <a:t>Pain points</a:t>
            </a:r>
            <a:endParaRPr lang="en-US" sz="1150" dirty="0"/>
          </a:p>
        </p:txBody>
      </p:sp>
      <p:sp>
        <p:nvSpPr>
          <p:cNvPr id="34" name="Text 32"/>
          <p:cNvSpPr/>
          <p:nvPr/>
        </p:nvSpPr>
        <p:spPr>
          <a:xfrm>
            <a:off x="4480560" y="3776472"/>
            <a:ext cx="3154680" cy="1005840"/>
          </a:xfrm>
          <a:prstGeom prst="rect">
            <a:avLst/>
          </a:prstGeom>
          <a:noFill/>
          <a:ln/>
        </p:spPr>
        <p:txBody>
          <a:bodyPr wrap="square" lIns="0" tIns="0" rIns="0" bIns="0" rtlCol="0" anchor="ctr"/>
          <a:lstStyle/>
          <a:p>
            <a:pPr marL="342900" indent="-342900">
              <a:lnSpc>
                <a:spcPct val="120000"/>
              </a:lnSpc>
              <a:buSzPct val="100000"/>
              <a:buChar char="•"/>
            </a:pPr>
            <a:r>
              <a:rPr lang="en-US" sz="1000" dirty="0">
                <a:solidFill>
                  <a:srgbClr val="B0B0B0"/>
                </a:solidFill>
                <a:latin typeface="Calibri" pitchFamily="34" charset="0"/>
                <a:ea typeface="Calibri" pitchFamily="34" charset="-122"/>
                <a:cs typeface="Calibri" pitchFamily="34" charset="-120"/>
              </a:rPr>
              <a:t>Daily office commute feels repetitive</a:t>
            </a:r>
            <a:endParaRPr lang="en-US" sz="1000" dirty="0"/>
          </a:p>
          <a:p>
            <a:pPr marL="342900" indent="-342900">
              <a:lnSpc>
                <a:spcPct val="120000"/>
              </a:lnSpc>
              <a:buSzPct val="100000"/>
              <a:buChar char="•"/>
            </a:pPr>
            <a:r>
              <a:rPr lang="en-US" sz="1000" dirty="0">
                <a:solidFill>
                  <a:srgbClr val="B0B0B0"/>
                </a:solidFill>
                <a:latin typeface="Calibri" pitchFamily="34" charset="0"/>
                <a:ea typeface="Calibri" pitchFamily="34" charset="-122"/>
                <a:cs typeface="Calibri" pitchFamily="34" charset="-120"/>
              </a:rPr>
              <a:t>Driver quality varies ride to ride</a:t>
            </a:r>
            <a:endParaRPr lang="en-US" sz="1000" dirty="0"/>
          </a:p>
        </p:txBody>
      </p:sp>
      <p:sp>
        <p:nvSpPr>
          <p:cNvPr id="35" name="Text 33"/>
          <p:cNvSpPr/>
          <p:nvPr/>
        </p:nvSpPr>
        <p:spPr>
          <a:xfrm>
            <a:off x="4480560" y="4846320"/>
            <a:ext cx="3154680" cy="274320"/>
          </a:xfrm>
          <a:prstGeom prst="rect">
            <a:avLst/>
          </a:prstGeom>
          <a:noFill/>
          <a:ln/>
        </p:spPr>
        <p:txBody>
          <a:bodyPr wrap="square" lIns="0" tIns="0" rIns="0" bIns="0" rtlCol="0" anchor="ctr"/>
          <a:lstStyle/>
          <a:p>
            <a:pPr indent="0" marL="0">
              <a:buNone/>
            </a:pPr>
            <a:r>
              <a:rPr lang="en-US" sz="1150" b="1" dirty="0">
                <a:solidFill>
                  <a:srgbClr val="3DBE6C"/>
                </a:solidFill>
                <a:latin typeface="Calibri" pitchFamily="34" charset="0"/>
                <a:ea typeface="Calibri" pitchFamily="34" charset="-122"/>
                <a:cs typeface="Calibri" pitchFamily="34" charset="-120"/>
              </a:rPr>
              <a:t>Goals and needs</a:t>
            </a:r>
            <a:endParaRPr lang="en-US" sz="1150" dirty="0"/>
          </a:p>
        </p:txBody>
      </p:sp>
      <p:sp>
        <p:nvSpPr>
          <p:cNvPr id="36" name="Text 34"/>
          <p:cNvSpPr/>
          <p:nvPr/>
        </p:nvSpPr>
        <p:spPr>
          <a:xfrm>
            <a:off x="4480560" y="5148072"/>
            <a:ext cx="3154680" cy="1005840"/>
          </a:xfrm>
          <a:prstGeom prst="rect">
            <a:avLst/>
          </a:prstGeom>
          <a:noFill/>
          <a:ln/>
        </p:spPr>
        <p:txBody>
          <a:bodyPr wrap="square" lIns="0" tIns="0" rIns="0" bIns="0" rtlCol="0" anchor="ctr"/>
          <a:lstStyle/>
          <a:p>
            <a:pPr marL="342900" indent="-342900">
              <a:lnSpc>
                <a:spcPct val="120000"/>
              </a:lnSpc>
              <a:buSzPct val="100000"/>
              <a:buChar char="•"/>
            </a:pPr>
            <a:r>
              <a:rPr lang="en-US" sz="1000" dirty="0">
                <a:solidFill>
                  <a:srgbClr val="B0B0B0"/>
                </a:solidFill>
                <a:latin typeface="Calibri" pitchFamily="34" charset="0"/>
                <a:ea typeface="Calibri" pitchFamily="34" charset="-122"/>
                <a:cs typeface="Calibri" pitchFamily="34" charset="-120"/>
              </a:rPr>
              <a:t>A predictable, low-friction daily booking</a:t>
            </a:r>
            <a:endParaRPr lang="en-US" sz="1000" dirty="0"/>
          </a:p>
          <a:p>
            <a:pPr marL="342900" indent="-342900">
              <a:lnSpc>
                <a:spcPct val="120000"/>
              </a:lnSpc>
              <a:buSzPct val="100000"/>
              <a:buChar char="•"/>
            </a:pPr>
            <a:r>
              <a:rPr lang="en-US" sz="1000" dirty="0">
                <a:solidFill>
                  <a:srgbClr val="B0B0B0"/>
                </a:solidFill>
                <a:latin typeface="Calibri" pitchFamily="34" charset="0"/>
                <a:ea typeface="Calibri" pitchFamily="34" charset="-122"/>
                <a:cs typeface="Calibri" pitchFamily="34" charset="-120"/>
              </a:rPr>
              <a:t>Trust in consistent ride quality</a:t>
            </a:r>
            <a:endParaRPr lang="en-US" sz="1000" dirty="0"/>
          </a:p>
        </p:txBody>
      </p:sp>
      <p:sp>
        <p:nvSpPr>
          <p:cNvPr id="37" name="Shape 35"/>
          <p:cNvSpPr/>
          <p:nvPr/>
        </p:nvSpPr>
        <p:spPr>
          <a:xfrm>
            <a:off x="8046720" y="2331720"/>
            <a:ext cx="3611880" cy="3977640"/>
          </a:xfrm>
          <a:prstGeom prst="roundRect">
            <a:avLst>
              <a:gd name="adj" fmla="val 2532"/>
            </a:avLst>
          </a:prstGeom>
          <a:solidFill>
            <a:srgbClr val="1A1A1A"/>
          </a:solidFill>
          <a:ln/>
        </p:spPr>
      </p:sp>
      <p:sp>
        <p:nvSpPr>
          <p:cNvPr id="38" name="Shape 36"/>
          <p:cNvSpPr/>
          <p:nvPr/>
        </p:nvSpPr>
        <p:spPr>
          <a:xfrm>
            <a:off x="8275320" y="2560320"/>
            <a:ext cx="594360" cy="594360"/>
          </a:xfrm>
          <a:prstGeom prst="ellipse">
            <a:avLst/>
          </a:prstGeom>
          <a:solidFill>
            <a:srgbClr val="8A5A0F"/>
          </a:solidFill>
          <a:ln/>
        </p:spPr>
      </p:sp>
      <p:sp>
        <p:nvSpPr>
          <p:cNvPr id="39" name="Text 37"/>
          <p:cNvSpPr/>
          <p:nvPr/>
        </p:nvSpPr>
        <p:spPr>
          <a:xfrm>
            <a:off x="8275320" y="256032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R</a:t>
            </a:r>
            <a:endParaRPr lang="en-US" sz="2000" dirty="0"/>
          </a:p>
        </p:txBody>
      </p:sp>
      <p:sp>
        <p:nvSpPr>
          <p:cNvPr id="40" name="Text 38"/>
          <p:cNvSpPr/>
          <p:nvPr/>
        </p:nvSpPr>
        <p:spPr>
          <a:xfrm>
            <a:off x="9006840" y="2587752"/>
            <a:ext cx="23774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Rohan, 32</a:t>
            </a:r>
            <a:endParaRPr lang="en-US" sz="1400" dirty="0"/>
          </a:p>
        </p:txBody>
      </p:sp>
      <p:sp>
        <p:nvSpPr>
          <p:cNvPr id="41" name="Text 39"/>
          <p:cNvSpPr/>
          <p:nvPr/>
        </p:nvSpPr>
        <p:spPr>
          <a:xfrm>
            <a:off x="9006840" y="2862072"/>
            <a:ext cx="2377440" cy="274320"/>
          </a:xfrm>
          <a:prstGeom prst="rect">
            <a:avLst/>
          </a:prstGeom>
          <a:noFill/>
          <a:ln/>
        </p:spPr>
        <p:txBody>
          <a:bodyPr wrap="square" lIns="0" tIns="0" rIns="0" bIns="0" rtlCol="0" anchor="ctr"/>
          <a:lstStyle/>
          <a:p>
            <a:pPr indent="0" marL="0">
              <a:buNone/>
            </a:pPr>
            <a:r>
              <a:rPr lang="en-US" sz="1050" dirty="0">
                <a:solidFill>
                  <a:srgbClr val="F5A623"/>
                </a:solidFill>
                <a:latin typeface="Calibri" pitchFamily="34" charset="0"/>
                <a:ea typeface="Calibri" pitchFamily="34" charset="-122"/>
                <a:cs typeface="Calibri" pitchFamily="34" charset="-120"/>
              </a:rPr>
              <a:t>Consultant, frequent flyer  ·  Delhi</a:t>
            </a:r>
            <a:endParaRPr lang="en-US" sz="1050" dirty="0"/>
          </a:p>
        </p:txBody>
      </p:sp>
      <p:sp>
        <p:nvSpPr>
          <p:cNvPr id="42" name="Shape 40"/>
          <p:cNvSpPr/>
          <p:nvPr/>
        </p:nvSpPr>
        <p:spPr>
          <a:xfrm>
            <a:off x="8275320" y="3337560"/>
            <a:ext cx="3154680" cy="0"/>
          </a:xfrm>
          <a:prstGeom prst="line">
            <a:avLst/>
          </a:prstGeom>
          <a:noFill/>
          <a:ln w="6350">
            <a:solidFill>
              <a:srgbClr val="6E6E6E"/>
            </a:solidFill>
            <a:prstDash val="solid"/>
          </a:ln>
        </p:spPr>
      </p:sp>
      <p:sp>
        <p:nvSpPr>
          <p:cNvPr id="43" name="Text 41"/>
          <p:cNvSpPr/>
          <p:nvPr/>
        </p:nvSpPr>
        <p:spPr>
          <a:xfrm>
            <a:off x="8275320" y="3474720"/>
            <a:ext cx="3154680" cy="274320"/>
          </a:xfrm>
          <a:prstGeom prst="rect">
            <a:avLst/>
          </a:prstGeom>
          <a:noFill/>
          <a:ln/>
        </p:spPr>
        <p:txBody>
          <a:bodyPr wrap="square" lIns="0" tIns="0" rIns="0" bIns="0" rtlCol="0" anchor="ctr"/>
          <a:lstStyle/>
          <a:p>
            <a:pPr indent="0" marL="0">
              <a:buNone/>
            </a:pPr>
            <a:r>
              <a:rPr lang="en-US" sz="1150" b="1" dirty="0">
                <a:solidFill>
                  <a:srgbClr val="E05A4E"/>
                </a:solidFill>
                <a:latin typeface="Calibri" pitchFamily="34" charset="0"/>
                <a:ea typeface="Calibri" pitchFamily="34" charset="-122"/>
                <a:cs typeface="Calibri" pitchFamily="34" charset="-120"/>
              </a:rPr>
              <a:t>Pain points</a:t>
            </a:r>
            <a:endParaRPr lang="en-US" sz="1150" dirty="0"/>
          </a:p>
        </p:txBody>
      </p:sp>
      <p:sp>
        <p:nvSpPr>
          <p:cNvPr id="44" name="Text 42"/>
          <p:cNvSpPr/>
          <p:nvPr/>
        </p:nvSpPr>
        <p:spPr>
          <a:xfrm>
            <a:off x="8275320" y="3776472"/>
            <a:ext cx="3154680" cy="1005840"/>
          </a:xfrm>
          <a:prstGeom prst="rect">
            <a:avLst/>
          </a:prstGeom>
          <a:noFill/>
          <a:ln/>
        </p:spPr>
        <p:txBody>
          <a:bodyPr wrap="square" lIns="0" tIns="0" rIns="0" bIns="0" rtlCol="0" anchor="ctr"/>
          <a:lstStyle/>
          <a:p>
            <a:pPr marL="342900" indent="-342900">
              <a:lnSpc>
                <a:spcPct val="120000"/>
              </a:lnSpc>
              <a:buSzPct val="100000"/>
              <a:buChar char="•"/>
            </a:pPr>
            <a:r>
              <a:rPr lang="en-US" sz="1000" dirty="0">
                <a:solidFill>
                  <a:srgbClr val="B0B0B0"/>
                </a:solidFill>
                <a:latin typeface="Calibri" pitchFamily="34" charset="0"/>
                <a:ea typeface="Calibri" pitchFamily="34" charset="-122"/>
                <a:cs typeface="Calibri" pitchFamily="34" charset="-120"/>
              </a:rPr>
              <a:t>Airport trips need reliability, not luck</a:t>
            </a:r>
            <a:endParaRPr lang="en-US" sz="1000" dirty="0"/>
          </a:p>
          <a:p>
            <a:pPr marL="342900" indent="-342900">
              <a:lnSpc>
                <a:spcPct val="120000"/>
              </a:lnSpc>
              <a:buSzPct val="100000"/>
              <a:buChar char="•"/>
            </a:pPr>
            <a:r>
              <a:rPr lang="en-US" sz="1000" dirty="0">
                <a:solidFill>
                  <a:srgbClr val="B0B0B0"/>
                </a:solidFill>
                <a:latin typeface="Calibri" pitchFamily="34" charset="0"/>
                <a:ea typeface="Calibri" pitchFamily="34" charset="-122"/>
                <a:cs typeface="Calibri" pitchFamily="34" charset="-120"/>
              </a:rPr>
              <a:t>Switches apps when one lets him down</a:t>
            </a:r>
            <a:endParaRPr lang="en-US" sz="1000" dirty="0"/>
          </a:p>
        </p:txBody>
      </p:sp>
      <p:sp>
        <p:nvSpPr>
          <p:cNvPr id="45" name="Text 43"/>
          <p:cNvSpPr/>
          <p:nvPr/>
        </p:nvSpPr>
        <p:spPr>
          <a:xfrm>
            <a:off x="8275320" y="4846320"/>
            <a:ext cx="3154680" cy="274320"/>
          </a:xfrm>
          <a:prstGeom prst="rect">
            <a:avLst/>
          </a:prstGeom>
          <a:noFill/>
          <a:ln/>
        </p:spPr>
        <p:txBody>
          <a:bodyPr wrap="square" lIns="0" tIns="0" rIns="0" bIns="0" rtlCol="0" anchor="ctr"/>
          <a:lstStyle/>
          <a:p>
            <a:pPr indent="0" marL="0">
              <a:buNone/>
            </a:pPr>
            <a:r>
              <a:rPr lang="en-US" sz="1150" b="1" dirty="0">
                <a:solidFill>
                  <a:srgbClr val="3DBE6C"/>
                </a:solidFill>
                <a:latin typeface="Calibri" pitchFamily="34" charset="0"/>
                <a:ea typeface="Calibri" pitchFamily="34" charset="-122"/>
                <a:cs typeface="Calibri" pitchFamily="34" charset="-120"/>
              </a:rPr>
              <a:t>Goals and needs</a:t>
            </a:r>
            <a:endParaRPr lang="en-US" sz="1150" dirty="0"/>
          </a:p>
        </p:txBody>
      </p:sp>
      <p:sp>
        <p:nvSpPr>
          <p:cNvPr id="46" name="Text 44"/>
          <p:cNvSpPr/>
          <p:nvPr/>
        </p:nvSpPr>
        <p:spPr>
          <a:xfrm>
            <a:off x="8275320" y="5148072"/>
            <a:ext cx="3154680" cy="1005840"/>
          </a:xfrm>
          <a:prstGeom prst="rect">
            <a:avLst/>
          </a:prstGeom>
          <a:noFill/>
          <a:ln/>
        </p:spPr>
        <p:txBody>
          <a:bodyPr wrap="square" lIns="0" tIns="0" rIns="0" bIns="0" rtlCol="0" anchor="ctr"/>
          <a:lstStyle/>
          <a:p>
            <a:pPr marL="342900" indent="-342900">
              <a:lnSpc>
                <a:spcPct val="120000"/>
              </a:lnSpc>
              <a:buSzPct val="100000"/>
              <a:buChar char="•"/>
            </a:pPr>
            <a:r>
              <a:rPr lang="en-US" sz="1000" dirty="0">
                <a:solidFill>
                  <a:srgbClr val="B0B0B0"/>
                </a:solidFill>
                <a:latin typeface="Calibri" pitchFamily="34" charset="0"/>
                <a:ea typeface="Calibri" pitchFamily="34" charset="-122"/>
                <a:cs typeface="Calibri" pitchFamily="34" charset="-120"/>
              </a:rPr>
              <a:t>Guaranteed reliability for high-stakes trips</a:t>
            </a:r>
            <a:endParaRPr lang="en-US" sz="1000" dirty="0"/>
          </a:p>
          <a:p>
            <a:pPr marL="342900" indent="-342900">
              <a:lnSpc>
                <a:spcPct val="120000"/>
              </a:lnSpc>
              <a:buSzPct val="100000"/>
              <a:buChar char="•"/>
            </a:pPr>
            <a:r>
              <a:rPr lang="en-US" sz="1000" dirty="0">
                <a:solidFill>
                  <a:srgbClr val="B0B0B0"/>
                </a:solidFill>
                <a:latin typeface="Calibri" pitchFamily="34" charset="0"/>
                <a:ea typeface="Calibri" pitchFamily="34" charset="-122"/>
                <a:cs typeface="Calibri" pitchFamily="34" charset="-120"/>
              </a:rPr>
              <a:t>Familiar, trusted drivers on repeat routes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457200" y="256032"/>
            <a:ext cx="457200" cy="310896"/>
          </a:xfrm>
          <a:prstGeom prst="roundRect">
            <a:avLst>
              <a:gd name="adj" fmla="val 17647"/>
            </a:avLst>
          </a:prstGeom>
          <a:solidFill>
            <a:srgbClr val="1A1A1A"/>
          </a:solidFill>
          <a:ln/>
        </p:spPr>
      </p:sp>
      <p:sp>
        <p:nvSpPr>
          <p:cNvPr id="3" name="Text 1"/>
          <p:cNvSpPr/>
          <p:nvPr/>
        </p:nvSpPr>
        <p:spPr>
          <a:xfrm>
            <a:off x="457200" y="256032"/>
            <a:ext cx="457200" cy="310896"/>
          </a:xfrm>
          <a:prstGeom prst="rect">
            <a:avLst/>
          </a:prstGeom>
          <a:noFill/>
          <a:ln/>
        </p:spPr>
        <p:txBody>
          <a:bodyPr wrap="square" rtlCol="0" anchor="ctr"/>
          <a:lstStyle/>
          <a:p>
            <a:pPr algn="ctr" indent="0" marL="0">
              <a:buNone/>
            </a:pPr>
            <a:r>
              <a:rPr lang="en-US" sz="1400" b="1" dirty="0">
                <a:solidFill>
                  <a:srgbClr val="F5A623"/>
                </a:solidFill>
                <a:latin typeface="Arial" pitchFamily="34" charset="0"/>
                <a:ea typeface="Arial" pitchFamily="34" charset="-122"/>
                <a:cs typeface="Arial" pitchFamily="34" charset="-120"/>
              </a:rPr>
              <a:t>R</a:t>
            </a:r>
            <a:endParaRPr lang="en-US" sz="1400" dirty="0"/>
          </a:p>
        </p:txBody>
      </p:sp>
      <p:sp>
        <p:nvSpPr>
          <p:cNvPr id="4" name="Text 2"/>
          <p:cNvSpPr/>
          <p:nvPr/>
        </p:nvSpPr>
        <p:spPr>
          <a:xfrm>
            <a:off x="1097280" y="274320"/>
            <a:ext cx="969264"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OVERVIEW</a:t>
            </a:r>
            <a:endParaRPr lang="en-US" sz="1000" dirty="0"/>
          </a:p>
        </p:txBody>
      </p:sp>
      <p:sp>
        <p:nvSpPr>
          <p:cNvPr id="5" name="Text 3"/>
          <p:cNvSpPr/>
          <p:nvPr/>
        </p:nvSpPr>
        <p:spPr>
          <a:xfrm>
            <a:off x="2203704" y="274320"/>
            <a:ext cx="1751076"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PROBLEM STATEMENT</a:t>
            </a:r>
            <a:endParaRPr lang="en-US" sz="1000" dirty="0"/>
          </a:p>
        </p:txBody>
      </p:sp>
      <p:sp>
        <p:nvSpPr>
          <p:cNvPr id="6" name="Text 4"/>
          <p:cNvSpPr/>
          <p:nvPr/>
        </p:nvSpPr>
        <p:spPr>
          <a:xfrm>
            <a:off x="4091940" y="274320"/>
            <a:ext cx="1403604"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USER PERSONAS</a:t>
            </a:r>
            <a:endParaRPr lang="en-US" sz="1000" dirty="0"/>
          </a:p>
        </p:txBody>
      </p:sp>
      <p:sp>
        <p:nvSpPr>
          <p:cNvPr id="7" name="Shape 5"/>
          <p:cNvSpPr/>
          <p:nvPr/>
        </p:nvSpPr>
        <p:spPr>
          <a:xfrm>
            <a:off x="5632704" y="274320"/>
            <a:ext cx="1056132" cy="274320"/>
          </a:xfrm>
          <a:prstGeom prst="roundRect">
            <a:avLst>
              <a:gd name="adj" fmla="val 50000"/>
            </a:avLst>
          </a:prstGeom>
          <a:solidFill>
            <a:srgbClr val="F5A623"/>
          </a:solidFill>
          <a:ln/>
        </p:spPr>
      </p:sp>
      <p:sp>
        <p:nvSpPr>
          <p:cNvPr id="8" name="Text 6"/>
          <p:cNvSpPr/>
          <p:nvPr/>
        </p:nvSpPr>
        <p:spPr>
          <a:xfrm>
            <a:off x="5632704" y="274320"/>
            <a:ext cx="1056132" cy="274320"/>
          </a:xfrm>
          <a:prstGeom prst="rect">
            <a:avLst/>
          </a:prstGeom>
          <a:noFill/>
          <a:ln/>
        </p:spPr>
        <p:txBody>
          <a:bodyPr wrap="square" lIns="0" tIns="0" rIns="0" bIns="0" rtlCol="0" anchor="ctr"/>
          <a:lstStyle/>
          <a:p>
            <a:pPr algn="ctr" indent="0" marL="0">
              <a:buNone/>
            </a:pPr>
            <a:r>
              <a:rPr lang="en-US" sz="1000" b="1" dirty="0">
                <a:solidFill>
                  <a:srgbClr val="1A1A00"/>
                </a:solidFill>
                <a:latin typeface="Calibri" pitchFamily="34" charset="0"/>
                <a:ea typeface="Calibri" pitchFamily="34" charset="-122"/>
                <a:cs typeface="Calibri" pitchFamily="34" charset="-120"/>
              </a:rPr>
              <a:t>SOLUTIONS</a:t>
            </a:r>
            <a:endParaRPr lang="en-US" sz="1000" dirty="0"/>
          </a:p>
        </p:txBody>
      </p:sp>
      <p:sp>
        <p:nvSpPr>
          <p:cNvPr id="9" name="Text 7"/>
          <p:cNvSpPr/>
          <p:nvPr/>
        </p:nvSpPr>
        <p:spPr>
          <a:xfrm>
            <a:off x="6825996" y="274320"/>
            <a:ext cx="1490472"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PRIORITIZATION</a:t>
            </a:r>
            <a:endParaRPr lang="en-US" sz="1000" dirty="0"/>
          </a:p>
        </p:txBody>
      </p:sp>
      <p:sp>
        <p:nvSpPr>
          <p:cNvPr id="10" name="Text 8"/>
          <p:cNvSpPr/>
          <p:nvPr/>
        </p:nvSpPr>
        <p:spPr>
          <a:xfrm>
            <a:off x="8453628" y="274320"/>
            <a:ext cx="621792"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KPIs</a:t>
            </a:r>
            <a:endParaRPr lang="en-US" sz="1000" dirty="0"/>
          </a:p>
        </p:txBody>
      </p:sp>
      <p:sp>
        <p:nvSpPr>
          <p:cNvPr id="11" name="Text 9"/>
          <p:cNvSpPr/>
          <p:nvPr/>
        </p:nvSpPr>
        <p:spPr>
          <a:xfrm>
            <a:off x="457200" y="777240"/>
            <a:ext cx="112471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Potential solution: Smart Recall</a:t>
            </a:r>
            <a:endParaRPr lang="en-US" sz="3000" dirty="0"/>
          </a:p>
        </p:txBody>
      </p:sp>
      <p:sp>
        <p:nvSpPr>
          <p:cNvPr id="12" name="Shape 10"/>
          <p:cNvSpPr/>
          <p:nvPr/>
        </p:nvSpPr>
        <p:spPr>
          <a:xfrm>
            <a:off x="457200" y="1600200"/>
            <a:ext cx="6492240" cy="1600200"/>
          </a:xfrm>
          <a:prstGeom prst="roundRect">
            <a:avLst>
              <a:gd name="adj" fmla="val 4571"/>
            </a:avLst>
          </a:prstGeom>
          <a:solidFill>
            <a:srgbClr val="1A1A1A"/>
          </a:solidFill>
          <a:ln/>
        </p:spPr>
      </p:sp>
      <p:sp>
        <p:nvSpPr>
          <p:cNvPr id="13" name="Text 11"/>
          <p:cNvSpPr/>
          <p:nvPr/>
        </p:nvSpPr>
        <p:spPr>
          <a:xfrm>
            <a:off x="685800" y="1737360"/>
            <a:ext cx="6035040" cy="274320"/>
          </a:xfrm>
          <a:prstGeom prst="rect">
            <a:avLst/>
          </a:prstGeom>
          <a:noFill/>
          <a:ln/>
        </p:spPr>
        <p:txBody>
          <a:bodyPr wrap="square" lIns="0" tIns="0" rIns="0" bIns="0" rtlCol="0" anchor="ctr"/>
          <a:lstStyle/>
          <a:p>
            <a:pPr indent="0" marL="0">
              <a:buNone/>
            </a:pPr>
            <a:r>
              <a:rPr lang="en-US" sz="1400" b="1" dirty="0">
                <a:solidFill>
                  <a:srgbClr val="F5A623"/>
                </a:solidFill>
                <a:latin typeface="Cambria" pitchFamily="34" charset="0"/>
                <a:ea typeface="Cambria" pitchFamily="34" charset="-122"/>
                <a:cs typeface="Cambria" pitchFamily="34" charset="-120"/>
              </a:rPr>
              <a:t>Explanation</a:t>
            </a:r>
            <a:endParaRPr lang="en-US" sz="1400" dirty="0"/>
          </a:p>
        </p:txBody>
      </p:sp>
      <p:sp>
        <p:nvSpPr>
          <p:cNvPr id="14" name="Text 12"/>
          <p:cNvSpPr/>
          <p:nvPr/>
        </p:nvSpPr>
        <p:spPr>
          <a:xfrm>
            <a:off x="685800" y="2029968"/>
            <a:ext cx="6035040" cy="1097280"/>
          </a:xfrm>
          <a:prstGeom prst="rect">
            <a:avLst/>
          </a:prstGeom>
          <a:noFill/>
          <a:ln/>
        </p:spPr>
        <p:txBody>
          <a:bodyPr wrap="square" lIns="0" tIns="0" rIns="0" bIns="0" rtlCol="0" anchor="ctr"/>
          <a:lstStyle/>
          <a:p>
            <a:pPr indent="0" marL="0">
              <a:lnSpc>
                <a:spcPct val="125000"/>
              </a:lnSpc>
              <a:buNone/>
            </a:pPr>
            <a:r>
              <a:rPr lang="en-US" sz="1150" dirty="0">
                <a:solidFill>
                  <a:srgbClr val="B0B0B0"/>
                </a:solidFill>
                <a:latin typeface="Calibri" pitchFamily="34" charset="0"/>
                <a:ea typeface="Calibri" pitchFamily="34" charset="-122"/>
                <a:cs typeface="Calibri" pitchFamily="34" charset="-120"/>
              </a:rPr>
              <a:t>A predictive home-screen card that recognizes a rider's recurring trip patterns (time of day, day of week, common routes) and surfaces a one-tap rebooking prompt before the rider even opens a competing app.</a:t>
            </a:r>
            <a:endParaRPr lang="en-US" sz="1150" dirty="0"/>
          </a:p>
        </p:txBody>
      </p:sp>
      <p:sp>
        <p:nvSpPr>
          <p:cNvPr id="15" name="Shape 13"/>
          <p:cNvSpPr/>
          <p:nvPr/>
        </p:nvSpPr>
        <p:spPr>
          <a:xfrm>
            <a:off x="457200" y="3337560"/>
            <a:ext cx="3154680" cy="2606040"/>
          </a:xfrm>
          <a:prstGeom prst="roundRect">
            <a:avLst>
              <a:gd name="adj" fmla="val 2807"/>
            </a:avLst>
          </a:prstGeom>
          <a:solidFill>
            <a:srgbClr val="1A1A1A"/>
          </a:solidFill>
          <a:ln/>
        </p:spPr>
      </p:sp>
      <p:sp>
        <p:nvSpPr>
          <p:cNvPr id="16" name="Text 14"/>
          <p:cNvSpPr/>
          <p:nvPr/>
        </p:nvSpPr>
        <p:spPr>
          <a:xfrm>
            <a:off x="685800" y="3474720"/>
            <a:ext cx="2743200" cy="274320"/>
          </a:xfrm>
          <a:prstGeom prst="rect">
            <a:avLst/>
          </a:prstGeom>
          <a:noFill/>
          <a:ln/>
        </p:spPr>
        <p:txBody>
          <a:bodyPr wrap="square" lIns="0" tIns="0" rIns="0" bIns="0" rtlCol="0" anchor="ctr"/>
          <a:lstStyle/>
          <a:p>
            <a:pPr indent="0" marL="0">
              <a:buNone/>
            </a:pPr>
            <a:r>
              <a:rPr lang="en-US" sz="1400" b="1" dirty="0">
                <a:solidFill>
                  <a:srgbClr val="F5A623"/>
                </a:solidFill>
                <a:latin typeface="Cambria" pitchFamily="34" charset="0"/>
                <a:ea typeface="Cambria" pitchFamily="34" charset="-122"/>
                <a:cs typeface="Cambria" pitchFamily="34" charset="-120"/>
              </a:rPr>
              <a:t>Impact</a:t>
            </a:r>
            <a:endParaRPr lang="en-US" sz="1400" dirty="0"/>
          </a:p>
        </p:txBody>
      </p:sp>
      <p:sp>
        <p:nvSpPr>
          <p:cNvPr id="17" name="Text 15"/>
          <p:cNvSpPr/>
          <p:nvPr/>
        </p:nvSpPr>
        <p:spPr>
          <a:xfrm>
            <a:off x="685800" y="3794760"/>
            <a:ext cx="2743200" cy="2011680"/>
          </a:xfrm>
          <a:prstGeom prst="rect">
            <a:avLst/>
          </a:prstGeom>
          <a:noFill/>
          <a:ln/>
        </p:spPr>
        <p:txBody>
          <a:bodyPr wrap="square" lIns="0" tIns="0" rIns="0" bIns="0" rtlCol="0" anchor="ctr"/>
          <a:lstStyle/>
          <a:p>
            <a:pPr marL="342900" indent="-342900">
              <a:lnSpc>
                <a:spcPct val="125000"/>
              </a:lnSpc>
              <a:buSzPct val="100000"/>
              <a:buChar char="•"/>
            </a:pPr>
            <a:r>
              <a:rPr lang="en-US" sz="1050" dirty="0">
                <a:solidFill>
                  <a:srgbClr val="B0B0B0"/>
                </a:solidFill>
                <a:latin typeface="Calibri" pitchFamily="34" charset="0"/>
                <a:ea typeface="Calibri" pitchFamily="34" charset="-122"/>
                <a:cs typeface="Calibri" pitchFamily="34" charset="-120"/>
              </a:rPr>
              <a:t>Removes the friction of comparing apps for routine trips</a:t>
            </a:r>
            <a:endParaRPr lang="en-US" sz="1050" dirty="0"/>
          </a:p>
          <a:p>
            <a:pPr marL="342900" indent="-342900">
              <a:lnSpc>
                <a:spcPct val="125000"/>
              </a:lnSpc>
              <a:buSzPct val="100000"/>
              <a:buChar char="•"/>
            </a:pPr>
            <a:r>
              <a:rPr lang="en-US" sz="1050" dirty="0">
                <a:solidFill>
                  <a:srgbClr val="B0B0B0"/>
                </a:solidFill>
                <a:latin typeface="Calibri" pitchFamily="34" charset="0"/>
                <a:ea typeface="Calibri" pitchFamily="34" charset="-122"/>
                <a:cs typeface="Calibri" pitchFamily="34" charset="-120"/>
              </a:rPr>
              <a:t>Learns from historical ride data already collected</a:t>
            </a:r>
            <a:endParaRPr lang="en-US" sz="1050" dirty="0"/>
          </a:p>
          <a:p>
            <a:pPr marL="342900" indent="-342900">
              <a:lnSpc>
                <a:spcPct val="125000"/>
              </a:lnSpc>
              <a:buSzPct val="100000"/>
              <a:buChar char="•"/>
            </a:pPr>
            <a:r>
              <a:rPr lang="en-US" sz="1050" dirty="0">
                <a:solidFill>
                  <a:srgbClr val="B0B0B0"/>
                </a:solidFill>
                <a:latin typeface="Calibri" pitchFamily="34" charset="0"/>
                <a:ea typeface="Calibri" pitchFamily="34" charset="-122"/>
                <a:cs typeface="Calibri" pitchFamily="34" charset="-120"/>
              </a:rPr>
              <a:t>Wins the booking by default via speed, not price</a:t>
            </a:r>
            <a:endParaRPr lang="en-US" sz="1050" dirty="0"/>
          </a:p>
        </p:txBody>
      </p:sp>
      <p:sp>
        <p:nvSpPr>
          <p:cNvPr id="18" name="Shape 16"/>
          <p:cNvSpPr/>
          <p:nvPr/>
        </p:nvSpPr>
        <p:spPr>
          <a:xfrm>
            <a:off x="3794760" y="3337560"/>
            <a:ext cx="3154680" cy="2606040"/>
          </a:xfrm>
          <a:prstGeom prst="roundRect">
            <a:avLst>
              <a:gd name="adj" fmla="val 2807"/>
            </a:avLst>
          </a:prstGeom>
          <a:solidFill>
            <a:srgbClr val="1A1A1A"/>
          </a:solidFill>
          <a:ln/>
        </p:spPr>
      </p:sp>
      <p:sp>
        <p:nvSpPr>
          <p:cNvPr id="19" name="Text 17"/>
          <p:cNvSpPr/>
          <p:nvPr/>
        </p:nvSpPr>
        <p:spPr>
          <a:xfrm>
            <a:off x="4023360" y="3474720"/>
            <a:ext cx="2743200" cy="274320"/>
          </a:xfrm>
          <a:prstGeom prst="rect">
            <a:avLst/>
          </a:prstGeom>
          <a:noFill/>
          <a:ln/>
        </p:spPr>
        <p:txBody>
          <a:bodyPr wrap="square" lIns="0" tIns="0" rIns="0" bIns="0" rtlCol="0" anchor="ctr"/>
          <a:lstStyle/>
          <a:p>
            <a:pPr indent="0" marL="0">
              <a:buNone/>
            </a:pPr>
            <a:r>
              <a:rPr lang="en-US" sz="1400" b="1" dirty="0">
                <a:solidFill>
                  <a:srgbClr val="F5A623"/>
                </a:solidFill>
                <a:latin typeface="Cambria" pitchFamily="34" charset="0"/>
                <a:ea typeface="Cambria" pitchFamily="34" charset="-122"/>
                <a:cs typeface="Cambria" pitchFamily="34" charset="-120"/>
              </a:rPr>
              <a:t>Benefit</a:t>
            </a:r>
            <a:endParaRPr lang="en-US" sz="1400" dirty="0"/>
          </a:p>
        </p:txBody>
      </p:sp>
      <p:sp>
        <p:nvSpPr>
          <p:cNvPr id="20" name="Text 18"/>
          <p:cNvSpPr/>
          <p:nvPr/>
        </p:nvSpPr>
        <p:spPr>
          <a:xfrm>
            <a:off x="4023360" y="3794760"/>
            <a:ext cx="2743200" cy="2011680"/>
          </a:xfrm>
          <a:prstGeom prst="rect">
            <a:avLst/>
          </a:prstGeom>
          <a:noFill/>
          <a:ln/>
        </p:spPr>
        <p:txBody>
          <a:bodyPr wrap="square" lIns="0" tIns="0" rIns="0" bIns="0" rtlCol="0" anchor="ctr"/>
          <a:lstStyle/>
          <a:p>
            <a:pPr marL="342900" indent="-342900">
              <a:lnSpc>
                <a:spcPct val="125000"/>
              </a:lnSpc>
              <a:buSzPct val="100000"/>
              <a:buChar char="•"/>
            </a:pPr>
            <a:r>
              <a:rPr lang="en-US" sz="1050" dirty="0">
                <a:solidFill>
                  <a:srgbClr val="B0B0B0"/>
                </a:solidFill>
                <a:latin typeface="Calibri" pitchFamily="34" charset="0"/>
                <a:ea typeface="Calibri" pitchFamily="34" charset="-122"/>
                <a:cs typeface="Calibri" pitchFamily="34" charset="-120"/>
              </a:rPr>
              <a:t>Higher one-tap conversion on repeat routes</a:t>
            </a:r>
            <a:endParaRPr lang="en-US" sz="1050" dirty="0"/>
          </a:p>
          <a:p>
            <a:pPr marL="342900" indent="-342900">
              <a:lnSpc>
                <a:spcPct val="125000"/>
              </a:lnSpc>
              <a:buSzPct val="100000"/>
              <a:buChar char="•"/>
            </a:pPr>
            <a:r>
              <a:rPr lang="en-US" sz="1050" dirty="0">
                <a:solidFill>
                  <a:srgbClr val="B0B0B0"/>
                </a:solidFill>
                <a:latin typeface="Calibri" pitchFamily="34" charset="0"/>
                <a:ea typeface="Calibri" pitchFamily="34" charset="-122"/>
                <a:cs typeface="Calibri" pitchFamily="34" charset="-120"/>
              </a:rPr>
              <a:t>Reduced cross-app price-checking behavior</a:t>
            </a:r>
            <a:endParaRPr lang="en-US" sz="1050" dirty="0"/>
          </a:p>
          <a:p>
            <a:pPr marL="342900" indent="-342900">
              <a:lnSpc>
                <a:spcPct val="125000"/>
              </a:lnSpc>
              <a:buSzPct val="100000"/>
              <a:buChar char="•"/>
            </a:pPr>
            <a:r>
              <a:rPr lang="en-US" sz="1050" dirty="0">
                <a:solidFill>
                  <a:srgbClr val="B0B0B0"/>
                </a:solidFill>
                <a:latin typeface="Calibri" pitchFamily="34" charset="0"/>
                <a:ea typeface="Calibri" pitchFamily="34" charset="-122"/>
                <a:cs typeface="Calibri" pitchFamily="34" charset="-120"/>
              </a:rPr>
              <a:t>Faster time-to-book for daily commuters</a:t>
            </a:r>
            <a:endParaRPr lang="en-US" sz="1050" dirty="0"/>
          </a:p>
        </p:txBody>
      </p:sp>
      <p:sp>
        <p:nvSpPr>
          <p:cNvPr id="21" name="Shape 19"/>
          <p:cNvSpPr/>
          <p:nvPr/>
        </p:nvSpPr>
        <p:spPr>
          <a:xfrm>
            <a:off x="7360920" y="1600200"/>
            <a:ext cx="2651760" cy="4343400"/>
          </a:xfrm>
          <a:prstGeom prst="roundRect">
            <a:avLst>
              <a:gd name="adj" fmla="val 8621"/>
            </a:avLst>
          </a:prstGeom>
          <a:solidFill>
            <a:srgbClr val="000000"/>
          </a:solidFill>
          <a:ln w="12700">
            <a:solidFill>
              <a:srgbClr val="6E6E6E"/>
            </a:solidFill>
            <a:prstDash val="solid"/>
          </a:ln>
        </p:spPr>
      </p:sp>
      <p:sp>
        <p:nvSpPr>
          <p:cNvPr id="22" name="Shape 20"/>
          <p:cNvSpPr/>
          <p:nvPr/>
        </p:nvSpPr>
        <p:spPr>
          <a:xfrm>
            <a:off x="7543800" y="1783080"/>
            <a:ext cx="2286000" cy="3977640"/>
          </a:xfrm>
          <a:prstGeom prst="roundRect">
            <a:avLst>
              <a:gd name="adj" fmla="val 4000"/>
            </a:avLst>
          </a:prstGeom>
          <a:solidFill>
            <a:srgbClr val="141414"/>
          </a:solidFill>
          <a:ln/>
        </p:spPr>
      </p:sp>
      <p:sp>
        <p:nvSpPr>
          <p:cNvPr id="23" name="Text 21"/>
          <p:cNvSpPr/>
          <p:nvPr/>
        </p:nvSpPr>
        <p:spPr>
          <a:xfrm>
            <a:off x="7680960" y="1920240"/>
            <a:ext cx="2011680" cy="228600"/>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6:02 PM</a:t>
            </a:r>
            <a:endParaRPr lang="en-US" sz="900" dirty="0"/>
          </a:p>
        </p:txBody>
      </p:sp>
      <p:sp>
        <p:nvSpPr>
          <p:cNvPr id="24" name="Shape 22"/>
          <p:cNvSpPr/>
          <p:nvPr/>
        </p:nvSpPr>
        <p:spPr>
          <a:xfrm>
            <a:off x="7680960" y="2286000"/>
            <a:ext cx="2011680" cy="1371600"/>
          </a:xfrm>
          <a:prstGeom prst="roundRect">
            <a:avLst>
              <a:gd name="adj" fmla="val 6667"/>
            </a:avLst>
          </a:prstGeom>
          <a:solidFill>
            <a:srgbClr val="1A1A1A"/>
          </a:solidFill>
          <a:ln w="9525">
            <a:solidFill>
              <a:srgbClr val="8A5A0F"/>
            </a:solidFill>
            <a:prstDash val="solid"/>
          </a:ln>
        </p:spPr>
      </p:sp>
      <p:sp>
        <p:nvSpPr>
          <p:cNvPr id="25" name="Shape 23"/>
          <p:cNvSpPr/>
          <p:nvPr/>
        </p:nvSpPr>
        <p:spPr>
          <a:xfrm>
            <a:off x="7818120" y="2441448"/>
            <a:ext cx="411480" cy="411480"/>
          </a:xfrm>
          <a:prstGeom prst="ellipse">
            <a:avLst/>
          </a:prstGeom>
          <a:solidFill>
            <a:srgbClr val="F5A623"/>
          </a:solidFill>
          <a:ln/>
        </p:spPr>
      </p:sp>
      <p:sp>
        <p:nvSpPr>
          <p:cNvPr id="26" name="Text 24"/>
          <p:cNvSpPr/>
          <p:nvPr/>
        </p:nvSpPr>
        <p:spPr>
          <a:xfrm>
            <a:off x="8321040" y="2404872"/>
            <a:ext cx="128016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Your usual ride home?</a:t>
            </a:r>
            <a:endParaRPr lang="en-US" sz="1050" dirty="0"/>
          </a:p>
        </p:txBody>
      </p:sp>
      <p:sp>
        <p:nvSpPr>
          <p:cNvPr id="27" name="Text 25"/>
          <p:cNvSpPr/>
          <p:nvPr/>
        </p:nvSpPr>
        <p:spPr>
          <a:xfrm>
            <a:off x="7818120" y="2834640"/>
            <a:ext cx="1737360" cy="365760"/>
          </a:xfrm>
          <a:prstGeom prst="rect">
            <a:avLst/>
          </a:prstGeom>
          <a:noFill/>
          <a:ln/>
        </p:spPr>
        <p:txBody>
          <a:bodyPr wrap="square" lIns="0" tIns="0" rIns="0" bIns="0" rtlCol="0" anchor="ctr"/>
          <a:lstStyle/>
          <a:p>
            <a:pPr indent="0" marL="0">
              <a:lnSpc>
                <a:spcPct val="115000"/>
              </a:lnSpc>
              <a:buNone/>
            </a:pPr>
            <a:r>
              <a:rPr lang="en-US" sz="900" dirty="0">
                <a:solidFill>
                  <a:srgbClr val="B0B0B0"/>
                </a:solidFill>
                <a:latin typeface="Calibri" pitchFamily="34" charset="0"/>
                <a:ea typeface="Calibri" pitchFamily="34" charset="-122"/>
                <a:cs typeface="Calibri" pitchFamily="34" charset="-120"/>
              </a:rPr>
              <a:t>HSR Layout to Koramangala, ~18 min</a:t>
            </a:r>
            <a:endParaRPr lang="en-US" sz="900" dirty="0"/>
          </a:p>
        </p:txBody>
      </p:sp>
      <p:sp>
        <p:nvSpPr>
          <p:cNvPr id="28" name="Shape 26"/>
          <p:cNvSpPr/>
          <p:nvPr/>
        </p:nvSpPr>
        <p:spPr>
          <a:xfrm>
            <a:off x="7818120" y="3291840"/>
            <a:ext cx="1737360" cy="292608"/>
          </a:xfrm>
          <a:prstGeom prst="roundRect">
            <a:avLst>
              <a:gd name="adj" fmla="val 50000"/>
            </a:avLst>
          </a:prstGeom>
          <a:solidFill>
            <a:srgbClr val="F5A623"/>
          </a:solidFill>
          <a:ln/>
        </p:spPr>
      </p:sp>
      <p:sp>
        <p:nvSpPr>
          <p:cNvPr id="29" name="Text 27"/>
          <p:cNvSpPr/>
          <p:nvPr/>
        </p:nvSpPr>
        <p:spPr>
          <a:xfrm>
            <a:off x="7818120" y="3291840"/>
            <a:ext cx="1737360" cy="292608"/>
          </a:xfrm>
          <a:prstGeom prst="rect">
            <a:avLst/>
          </a:prstGeom>
          <a:noFill/>
          <a:ln/>
        </p:spPr>
        <p:txBody>
          <a:bodyPr wrap="square" lIns="0" tIns="0" rIns="0" bIns="0" rtlCol="0" anchor="ctr"/>
          <a:lstStyle/>
          <a:p>
            <a:pPr algn="ctr" indent="0" marL="0">
              <a:buNone/>
            </a:pPr>
            <a:r>
              <a:rPr lang="en-US" sz="950" b="1" dirty="0">
                <a:solidFill>
                  <a:srgbClr val="1A1A00"/>
                </a:solidFill>
                <a:latin typeface="Calibri" pitchFamily="34" charset="0"/>
                <a:ea typeface="Calibri" pitchFamily="34" charset="-122"/>
                <a:cs typeface="Calibri" pitchFamily="34" charset="-120"/>
              </a:rPr>
              <a:t>Book now</a:t>
            </a:r>
            <a:endParaRPr lang="en-US" sz="950" dirty="0"/>
          </a:p>
        </p:txBody>
      </p:sp>
      <p:sp>
        <p:nvSpPr>
          <p:cNvPr id="30" name="Text 28"/>
          <p:cNvSpPr/>
          <p:nvPr/>
        </p:nvSpPr>
        <p:spPr>
          <a:xfrm>
            <a:off x="7498080" y="5074920"/>
            <a:ext cx="2834640" cy="594360"/>
          </a:xfrm>
          <a:prstGeom prst="rect">
            <a:avLst/>
          </a:prstGeom>
          <a:noFill/>
          <a:ln/>
        </p:spPr>
        <p:txBody>
          <a:bodyPr wrap="square" lIns="0" tIns="0" rIns="0" bIns="0" rtlCol="0" anchor="ctr"/>
          <a:lstStyle/>
          <a:p>
            <a:pPr algn="ctr" indent="0" marL="0">
              <a:buNone/>
            </a:pPr>
            <a:r>
              <a:rPr lang="en-US" sz="950" i="1" dirty="0">
                <a:solidFill>
                  <a:srgbClr val="B0B0B0"/>
                </a:solidFill>
                <a:latin typeface="Calibri" pitchFamily="34" charset="0"/>
                <a:ea typeface="Calibri" pitchFamily="34" charset="-122"/>
                <a:cs typeface="Calibri" pitchFamily="34" charset="-120"/>
              </a:rPr>
              <a:t>Predictive one-tap booking card, shown on app open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457200" y="256032"/>
            <a:ext cx="457200" cy="310896"/>
          </a:xfrm>
          <a:prstGeom prst="roundRect">
            <a:avLst>
              <a:gd name="adj" fmla="val 17647"/>
            </a:avLst>
          </a:prstGeom>
          <a:solidFill>
            <a:srgbClr val="1A1A1A"/>
          </a:solidFill>
          <a:ln/>
        </p:spPr>
      </p:sp>
      <p:sp>
        <p:nvSpPr>
          <p:cNvPr id="3" name="Text 1"/>
          <p:cNvSpPr/>
          <p:nvPr/>
        </p:nvSpPr>
        <p:spPr>
          <a:xfrm>
            <a:off x="457200" y="256032"/>
            <a:ext cx="457200" cy="310896"/>
          </a:xfrm>
          <a:prstGeom prst="rect">
            <a:avLst/>
          </a:prstGeom>
          <a:noFill/>
          <a:ln/>
        </p:spPr>
        <p:txBody>
          <a:bodyPr wrap="square" rtlCol="0" anchor="ctr"/>
          <a:lstStyle/>
          <a:p>
            <a:pPr algn="ctr" indent="0" marL="0">
              <a:buNone/>
            </a:pPr>
            <a:r>
              <a:rPr lang="en-US" sz="1400" b="1" dirty="0">
                <a:solidFill>
                  <a:srgbClr val="F5A623"/>
                </a:solidFill>
                <a:latin typeface="Arial" pitchFamily="34" charset="0"/>
                <a:ea typeface="Arial" pitchFamily="34" charset="-122"/>
                <a:cs typeface="Arial" pitchFamily="34" charset="-120"/>
              </a:rPr>
              <a:t>R</a:t>
            </a:r>
            <a:endParaRPr lang="en-US" sz="1400" dirty="0"/>
          </a:p>
        </p:txBody>
      </p:sp>
      <p:sp>
        <p:nvSpPr>
          <p:cNvPr id="4" name="Text 2"/>
          <p:cNvSpPr/>
          <p:nvPr/>
        </p:nvSpPr>
        <p:spPr>
          <a:xfrm>
            <a:off x="1097280" y="274320"/>
            <a:ext cx="969264"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OVERVIEW</a:t>
            </a:r>
            <a:endParaRPr lang="en-US" sz="1000" dirty="0"/>
          </a:p>
        </p:txBody>
      </p:sp>
      <p:sp>
        <p:nvSpPr>
          <p:cNvPr id="5" name="Text 3"/>
          <p:cNvSpPr/>
          <p:nvPr/>
        </p:nvSpPr>
        <p:spPr>
          <a:xfrm>
            <a:off x="2203704" y="274320"/>
            <a:ext cx="1751076"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PROBLEM STATEMENT</a:t>
            </a:r>
            <a:endParaRPr lang="en-US" sz="1000" dirty="0"/>
          </a:p>
        </p:txBody>
      </p:sp>
      <p:sp>
        <p:nvSpPr>
          <p:cNvPr id="6" name="Text 4"/>
          <p:cNvSpPr/>
          <p:nvPr/>
        </p:nvSpPr>
        <p:spPr>
          <a:xfrm>
            <a:off x="4091940" y="274320"/>
            <a:ext cx="1403604"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USER PERSONAS</a:t>
            </a:r>
            <a:endParaRPr lang="en-US" sz="1000" dirty="0"/>
          </a:p>
        </p:txBody>
      </p:sp>
      <p:sp>
        <p:nvSpPr>
          <p:cNvPr id="7" name="Shape 5"/>
          <p:cNvSpPr/>
          <p:nvPr/>
        </p:nvSpPr>
        <p:spPr>
          <a:xfrm>
            <a:off x="5632704" y="274320"/>
            <a:ext cx="1056132" cy="274320"/>
          </a:xfrm>
          <a:prstGeom prst="roundRect">
            <a:avLst>
              <a:gd name="adj" fmla="val 50000"/>
            </a:avLst>
          </a:prstGeom>
          <a:solidFill>
            <a:srgbClr val="F5A623"/>
          </a:solidFill>
          <a:ln/>
        </p:spPr>
      </p:sp>
      <p:sp>
        <p:nvSpPr>
          <p:cNvPr id="8" name="Text 6"/>
          <p:cNvSpPr/>
          <p:nvPr/>
        </p:nvSpPr>
        <p:spPr>
          <a:xfrm>
            <a:off x="5632704" y="274320"/>
            <a:ext cx="1056132" cy="274320"/>
          </a:xfrm>
          <a:prstGeom prst="rect">
            <a:avLst/>
          </a:prstGeom>
          <a:noFill/>
          <a:ln/>
        </p:spPr>
        <p:txBody>
          <a:bodyPr wrap="square" lIns="0" tIns="0" rIns="0" bIns="0" rtlCol="0" anchor="ctr"/>
          <a:lstStyle/>
          <a:p>
            <a:pPr algn="ctr" indent="0" marL="0">
              <a:buNone/>
            </a:pPr>
            <a:r>
              <a:rPr lang="en-US" sz="1000" b="1" dirty="0">
                <a:solidFill>
                  <a:srgbClr val="1A1A00"/>
                </a:solidFill>
                <a:latin typeface="Calibri" pitchFamily="34" charset="0"/>
                <a:ea typeface="Calibri" pitchFamily="34" charset="-122"/>
                <a:cs typeface="Calibri" pitchFamily="34" charset="-120"/>
              </a:rPr>
              <a:t>SOLUTIONS</a:t>
            </a:r>
            <a:endParaRPr lang="en-US" sz="1000" dirty="0"/>
          </a:p>
        </p:txBody>
      </p:sp>
      <p:sp>
        <p:nvSpPr>
          <p:cNvPr id="9" name="Text 7"/>
          <p:cNvSpPr/>
          <p:nvPr/>
        </p:nvSpPr>
        <p:spPr>
          <a:xfrm>
            <a:off x="6825996" y="274320"/>
            <a:ext cx="1490472"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PRIORITIZATION</a:t>
            </a:r>
            <a:endParaRPr lang="en-US" sz="1000" dirty="0"/>
          </a:p>
        </p:txBody>
      </p:sp>
      <p:sp>
        <p:nvSpPr>
          <p:cNvPr id="10" name="Text 8"/>
          <p:cNvSpPr/>
          <p:nvPr/>
        </p:nvSpPr>
        <p:spPr>
          <a:xfrm>
            <a:off x="8453628" y="274320"/>
            <a:ext cx="621792"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KPIs</a:t>
            </a:r>
            <a:endParaRPr lang="en-US" sz="1000" dirty="0"/>
          </a:p>
        </p:txBody>
      </p:sp>
      <p:sp>
        <p:nvSpPr>
          <p:cNvPr id="11" name="Text 9"/>
          <p:cNvSpPr/>
          <p:nvPr/>
        </p:nvSpPr>
        <p:spPr>
          <a:xfrm>
            <a:off x="457200" y="777240"/>
            <a:ext cx="112471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Potential solution: RideStreak</a:t>
            </a:r>
            <a:endParaRPr lang="en-US" sz="3000" dirty="0"/>
          </a:p>
        </p:txBody>
      </p:sp>
      <p:sp>
        <p:nvSpPr>
          <p:cNvPr id="12" name="Shape 10"/>
          <p:cNvSpPr/>
          <p:nvPr/>
        </p:nvSpPr>
        <p:spPr>
          <a:xfrm>
            <a:off x="457200" y="1600200"/>
            <a:ext cx="6492240" cy="1600200"/>
          </a:xfrm>
          <a:prstGeom prst="roundRect">
            <a:avLst>
              <a:gd name="adj" fmla="val 4571"/>
            </a:avLst>
          </a:prstGeom>
          <a:solidFill>
            <a:srgbClr val="1A1A1A"/>
          </a:solidFill>
          <a:ln/>
        </p:spPr>
      </p:sp>
      <p:sp>
        <p:nvSpPr>
          <p:cNvPr id="13" name="Text 11"/>
          <p:cNvSpPr/>
          <p:nvPr/>
        </p:nvSpPr>
        <p:spPr>
          <a:xfrm>
            <a:off x="685800" y="1737360"/>
            <a:ext cx="6035040" cy="274320"/>
          </a:xfrm>
          <a:prstGeom prst="rect">
            <a:avLst/>
          </a:prstGeom>
          <a:noFill/>
          <a:ln/>
        </p:spPr>
        <p:txBody>
          <a:bodyPr wrap="square" lIns="0" tIns="0" rIns="0" bIns="0" rtlCol="0" anchor="ctr"/>
          <a:lstStyle/>
          <a:p>
            <a:pPr indent="0" marL="0">
              <a:buNone/>
            </a:pPr>
            <a:r>
              <a:rPr lang="en-US" sz="1400" b="1" dirty="0">
                <a:solidFill>
                  <a:srgbClr val="F5A623"/>
                </a:solidFill>
                <a:latin typeface="Cambria" pitchFamily="34" charset="0"/>
                <a:ea typeface="Cambria" pitchFamily="34" charset="-122"/>
                <a:cs typeface="Cambria" pitchFamily="34" charset="-120"/>
              </a:rPr>
              <a:t>Explanation</a:t>
            </a:r>
            <a:endParaRPr lang="en-US" sz="1400" dirty="0"/>
          </a:p>
        </p:txBody>
      </p:sp>
      <p:sp>
        <p:nvSpPr>
          <p:cNvPr id="14" name="Text 12"/>
          <p:cNvSpPr/>
          <p:nvPr/>
        </p:nvSpPr>
        <p:spPr>
          <a:xfrm>
            <a:off x="685800" y="2029968"/>
            <a:ext cx="6035040" cy="1097280"/>
          </a:xfrm>
          <a:prstGeom prst="rect">
            <a:avLst/>
          </a:prstGeom>
          <a:noFill/>
          <a:ln/>
        </p:spPr>
        <p:txBody>
          <a:bodyPr wrap="square" lIns="0" tIns="0" rIns="0" bIns="0" rtlCol="0" anchor="ctr"/>
          <a:lstStyle/>
          <a:p>
            <a:pPr indent="0" marL="0">
              <a:lnSpc>
                <a:spcPct val="125000"/>
              </a:lnSpc>
              <a:buNone/>
            </a:pPr>
            <a:r>
              <a:rPr lang="en-US" sz="1150" dirty="0">
                <a:solidFill>
                  <a:srgbClr val="B0B0B0"/>
                </a:solidFill>
                <a:latin typeface="Calibri" pitchFamily="34" charset="0"/>
                <a:ea typeface="Calibri" pitchFamily="34" charset="-122"/>
                <a:cs typeface="Calibri" pitchFamily="34" charset="-120"/>
              </a:rPr>
              <a:t>A visible weekly streak tracker — similar to habit-building loops seen in fitness and language apps — that rewards riders for booking at least once a week with small, non-monetary perks like priority pickup or a surprise tier upgrade.</a:t>
            </a:r>
            <a:endParaRPr lang="en-US" sz="1150" dirty="0"/>
          </a:p>
        </p:txBody>
      </p:sp>
      <p:sp>
        <p:nvSpPr>
          <p:cNvPr id="15" name="Shape 13"/>
          <p:cNvSpPr/>
          <p:nvPr/>
        </p:nvSpPr>
        <p:spPr>
          <a:xfrm>
            <a:off x="457200" y="3337560"/>
            <a:ext cx="3154680" cy="2606040"/>
          </a:xfrm>
          <a:prstGeom prst="roundRect">
            <a:avLst>
              <a:gd name="adj" fmla="val 2807"/>
            </a:avLst>
          </a:prstGeom>
          <a:solidFill>
            <a:srgbClr val="1A1A1A"/>
          </a:solidFill>
          <a:ln/>
        </p:spPr>
      </p:sp>
      <p:sp>
        <p:nvSpPr>
          <p:cNvPr id="16" name="Text 14"/>
          <p:cNvSpPr/>
          <p:nvPr/>
        </p:nvSpPr>
        <p:spPr>
          <a:xfrm>
            <a:off x="685800" y="3474720"/>
            <a:ext cx="2743200" cy="274320"/>
          </a:xfrm>
          <a:prstGeom prst="rect">
            <a:avLst/>
          </a:prstGeom>
          <a:noFill/>
          <a:ln/>
        </p:spPr>
        <p:txBody>
          <a:bodyPr wrap="square" lIns="0" tIns="0" rIns="0" bIns="0" rtlCol="0" anchor="ctr"/>
          <a:lstStyle/>
          <a:p>
            <a:pPr indent="0" marL="0">
              <a:buNone/>
            </a:pPr>
            <a:r>
              <a:rPr lang="en-US" sz="1400" b="1" dirty="0">
                <a:solidFill>
                  <a:srgbClr val="F5A623"/>
                </a:solidFill>
                <a:latin typeface="Cambria" pitchFamily="34" charset="0"/>
                <a:ea typeface="Cambria" pitchFamily="34" charset="-122"/>
                <a:cs typeface="Cambria" pitchFamily="34" charset="-120"/>
              </a:rPr>
              <a:t>Impact</a:t>
            </a:r>
            <a:endParaRPr lang="en-US" sz="1400" dirty="0"/>
          </a:p>
        </p:txBody>
      </p:sp>
      <p:sp>
        <p:nvSpPr>
          <p:cNvPr id="17" name="Text 15"/>
          <p:cNvSpPr/>
          <p:nvPr/>
        </p:nvSpPr>
        <p:spPr>
          <a:xfrm>
            <a:off x="685800" y="3794760"/>
            <a:ext cx="2743200" cy="2011680"/>
          </a:xfrm>
          <a:prstGeom prst="rect">
            <a:avLst/>
          </a:prstGeom>
          <a:noFill/>
          <a:ln/>
        </p:spPr>
        <p:txBody>
          <a:bodyPr wrap="square" lIns="0" tIns="0" rIns="0" bIns="0" rtlCol="0" anchor="ctr"/>
          <a:lstStyle/>
          <a:p>
            <a:pPr marL="342900" indent="-342900">
              <a:lnSpc>
                <a:spcPct val="125000"/>
              </a:lnSpc>
              <a:buSzPct val="100000"/>
              <a:buChar char="•"/>
            </a:pPr>
            <a:r>
              <a:rPr lang="en-US" sz="1050" dirty="0">
                <a:solidFill>
                  <a:srgbClr val="B0B0B0"/>
                </a:solidFill>
                <a:latin typeface="Calibri" pitchFamily="34" charset="0"/>
                <a:ea typeface="Calibri" pitchFamily="34" charset="-122"/>
                <a:cs typeface="Calibri" pitchFamily="34" charset="-120"/>
              </a:rPr>
              <a:t>Converts ride-taking from a one-off decision into a weekly habit</a:t>
            </a:r>
            <a:endParaRPr lang="en-US" sz="1050" dirty="0"/>
          </a:p>
          <a:p>
            <a:pPr marL="342900" indent="-342900">
              <a:lnSpc>
                <a:spcPct val="125000"/>
              </a:lnSpc>
              <a:buSzPct val="100000"/>
              <a:buChar char="•"/>
            </a:pPr>
            <a:r>
              <a:rPr lang="en-US" sz="1050" dirty="0">
                <a:solidFill>
                  <a:srgbClr val="B0B0B0"/>
                </a:solidFill>
                <a:latin typeface="Calibri" pitchFamily="34" charset="0"/>
                <a:ea typeface="Calibri" pitchFamily="34" charset="-122"/>
                <a:cs typeface="Calibri" pitchFamily="34" charset="-120"/>
              </a:rPr>
              <a:t>Anchors the rider's mental model to a single default app</a:t>
            </a:r>
            <a:endParaRPr lang="en-US" sz="1050" dirty="0"/>
          </a:p>
          <a:p>
            <a:pPr marL="342900" indent="-342900">
              <a:lnSpc>
                <a:spcPct val="125000"/>
              </a:lnSpc>
              <a:buSzPct val="100000"/>
              <a:buChar char="•"/>
            </a:pPr>
            <a:r>
              <a:rPr lang="en-US" sz="1050" dirty="0">
                <a:solidFill>
                  <a:srgbClr val="B0B0B0"/>
                </a:solidFill>
                <a:latin typeface="Calibri" pitchFamily="34" charset="0"/>
                <a:ea typeface="Calibri" pitchFamily="34" charset="-122"/>
                <a:cs typeface="Calibri" pitchFamily="34" charset="-120"/>
              </a:rPr>
              <a:t>Reinforces loyalty without relying on discounting</a:t>
            </a:r>
            <a:endParaRPr lang="en-US" sz="1050" dirty="0"/>
          </a:p>
        </p:txBody>
      </p:sp>
      <p:sp>
        <p:nvSpPr>
          <p:cNvPr id="18" name="Shape 16"/>
          <p:cNvSpPr/>
          <p:nvPr/>
        </p:nvSpPr>
        <p:spPr>
          <a:xfrm>
            <a:off x="3794760" y="3337560"/>
            <a:ext cx="3154680" cy="2606040"/>
          </a:xfrm>
          <a:prstGeom prst="roundRect">
            <a:avLst>
              <a:gd name="adj" fmla="val 2807"/>
            </a:avLst>
          </a:prstGeom>
          <a:solidFill>
            <a:srgbClr val="1A1A1A"/>
          </a:solidFill>
          <a:ln/>
        </p:spPr>
      </p:sp>
      <p:sp>
        <p:nvSpPr>
          <p:cNvPr id="19" name="Text 17"/>
          <p:cNvSpPr/>
          <p:nvPr/>
        </p:nvSpPr>
        <p:spPr>
          <a:xfrm>
            <a:off x="4023360" y="3474720"/>
            <a:ext cx="2743200" cy="274320"/>
          </a:xfrm>
          <a:prstGeom prst="rect">
            <a:avLst/>
          </a:prstGeom>
          <a:noFill/>
          <a:ln/>
        </p:spPr>
        <p:txBody>
          <a:bodyPr wrap="square" lIns="0" tIns="0" rIns="0" bIns="0" rtlCol="0" anchor="ctr"/>
          <a:lstStyle/>
          <a:p>
            <a:pPr indent="0" marL="0">
              <a:buNone/>
            </a:pPr>
            <a:r>
              <a:rPr lang="en-US" sz="1400" b="1" dirty="0">
                <a:solidFill>
                  <a:srgbClr val="F5A623"/>
                </a:solidFill>
                <a:latin typeface="Cambria" pitchFamily="34" charset="0"/>
                <a:ea typeface="Cambria" pitchFamily="34" charset="-122"/>
                <a:cs typeface="Cambria" pitchFamily="34" charset="-120"/>
              </a:rPr>
              <a:t>Benefit</a:t>
            </a:r>
            <a:endParaRPr lang="en-US" sz="1400" dirty="0"/>
          </a:p>
        </p:txBody>
      </p:sp>
      <p:sp>
        <p:nvSpPr>
          <p:cNvPr id="20" name="Text 18"/>
          <p:cNvSpPr/>
          <p:nvPr/>
        </p:nvSpPr>
        <p:spPr>
          <a:xfrm>
            <a:off x="4023360" y="3794760"/>
            <a:ext cx="2743200" cy="2011680"/>
          </a:xfrm>
          <a:prstGeom prst="rect">
            <a:avLst/>
          </a:prstGeom>
          <a:noFill/>
          <a:ln/>
        </p:spPr>
        <p:txBody>
          <a:bodyPr wrap="square" lIns="0" tIns="0" rIns="0" bIns="0" rtlCol="0" anchor="ctr"/>
          <a:lstStyle/>
          <a:p>
            <a:pPr marL="342900" indent="-342900">
              <a:lnSpc>
                <a:spcPct val="125000"/>
              </a:lnSpc>
              <a:buSzPct val="100000"/>
              <a:buChar char="•"/>
            </a:pPr>
            <a:r>
              <a:rPr lang="en-US" sz="1050" dirty="0">
                <a:solidFill>
                  <a:srgbClr val="B0B0B0"/>
                </a:solidFill>
                <a:latin typeface="Calibri" pitchFamily="34" charset="0"/>
                <a:ea typeface="Calibri" pitchFamily="34" charset="-122"/>
                <a:cs typeface="Calibri" pitchFamily="34" charset="-120"/>
              </a:rPr>
              <a:t>Increased weekly active riders</a:t>
            </a:r>
            <a:endParaRPr lang="en-US" sz="1050" dirty="0"/>
          </a:p>
          <a:p>
            <a:pPr marL="342900" indent="-342900">
              <a:lnSpc>
                <a:spcPct val="125000"/>
              </a:lnSpc>
              <a:buSzPct val="100000"/>
              <a:buChar char="•"/>
            </a:pPr>
            <a:r>
              <a:rPr lang="en-US" sz="1050" dirty="0">
                <a:solidFill>
                  <a:srgbClr val="B0B0B0"/>
                </a:solidFill>
                <a:latin typeface="Calibri" pitchFamily="34" charset="0"/>
                <a:ea typeface="Calibri" pitchFamily="34" charset="-122"/>
                <a:cs typeface="Calibri" pitchFamily="34" charset="-120"/>
              </a:rPr>
              <a:t>Higher ride frequency per user per month</a:t>
            </a:r>
            <a:endParaRPr lang="en-US" sz="1050" dirty="0"/>
          </a:p>
          <a:p>
            <a:pPr marL="342900" indent="-342900">
              <a:lnSpc>
                <a:spcPct val="125000"/>
              </a:lnSpc>
              <a:buSzPct val="100000"/>
              <a:buChar char="•"/>
            </a:pPr>
            <a:r>
              <a:rPr lang="en-US" sz="1050" dirty="0">
                <a:solidFill>
                  <a:srgbClr val="B0B0B0"/>
                </a:solidFill>
                <a:latin typeface="Calibri" pitchFamily="34" charset="0"/>
                <a:ea typeface="Calibri" pitchFamily="34" charset="-122"/>
                <a:cs typeface="Calibri" pitchFamily="34" charset="-120"/>
              </a:rPr>
              <a:t>Stronger emotional engagement beyond price</a:t>
            </a:r>
            <a:endParaRPr lang="en-US" sz="1050" dirty="0"/>
          </a:p>
        </p:txBody>
      </p:sp>
      <p:sp>
        <p:nvSpPr>
          <p:cNvPr id="21" name="Shape 19"/>
          <p:cNvSpPr/>
          <p:nvPr/>
        </p:nvSpPr>
        <p:spPr>
          <a:xfrm>
            <a:off x="7360920" y="1600200"/>
            <a:ext cx="2651760" cy="4343400"/>
          </a:xfrm>
          <a:prstGeom prst="roundRect">
            <a:avLst>
              <a:gd name="adj" fmla="val 8621"/>
            </a:avLst>
          </a:prstGeom>
          <a:solidFill>
            <a:srgbClr val="000000"/>
          </a:solidFill>
          <a:ln w="12700">
            <a:solidFill>
              <a:srgbClr val="6E6E6E"/>
            </a:solidFill>
            <a:prstDash val="solid"/>
          </a:ln>
        </p:spPr>
      </p:sp>
      <p:sp>
        <p:nvSpPr>
          <p:cNvPr id="22" name="Shape 20"/>
          <p:cNvSpPr/>
          <p:nvPr/>
        </p:nvSpPr>
        <p:spPr>
          <a:xfrm>
            <a:off x="7543800" y="1783080"/>
            <a:ext cx="2286000" cy="3977640"/>
          </a:xfrm>
          <a:prstGeom prst="roundRect">
            <a:avLst>
              <a:gd name="adj" fmla="val 4000"/>
            </a:avLst>
          </a:prstGeom>
          <a:solidFill>
            <a:srgbClr val="141414"/>
          </a:solidFill>
          <a:ln/>
        </p:spPr>
      </p:sp>
      <p:sp>
        <p:nvSpPr>
          <p:cNvPr id="23" name="Text 21"/>
          <p:cNvSpPr/>
          <p:nvPr/>
        </p:nvSpPr>
        <p:spPr>
          <a:xfrm>
            <a:off x="7680960" y="1965960"/>
            <a:ext cx="20116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Your ride streak</a:t>
            </a:r>
            <a:endParaRPr lang="en-US" sz="1100" dirty="0"/>
          </a:p>
        </p:txBody>
      </p:sp>
      <p:sp>
        <p:nvSpPr>
          <p:cNvPr id="24" name="Shape 22"/>
          <p:cNvSpPr/>
          <p:nvPr/>
        </p:nvSpPr>
        <p:spPr>
          <a:xfrm>
            <a:off x="8961120" y="1947672"/>
            <a:ext cx="777240" cy="292608"/>
          </a:xfrm>
          <a:prstGeom prst="roundRect">
            <a:avLst>
              <a:gd name="adj" fmla="val 50000"/>
            </a:avLst>
          </a:prstGeom>
          <a:solidFill>
            <a:srgbClr val="3A2A00"/>
          </a:solidFill>
          <a:ln/>
        </p:spPr>
      </p:sp>
      <p:sp>
        <p:nvSpPr>
          <p:cNvPr id="25" name="Text 23"/>
          <p:cNvSpPr/>
          <p:nvPr/>
        </p:nvSpPr>
        <p:spPr>
          <a:xfrm>
            <a:off x="8961120" y="1947672"/>
            <a:ext cx="777240" cy="292608"/>
          </a:xfrm>
          <a:prstGeom prst="rect">
            <a:avLst/>
          </a:prstGeom>
          <a:noFill/>
          <a:ln/>
        </p:spPr>
        <p:txBody>
          <a:bodyPr wrap="square" lIns="0" tIns="0" rIns="0" bIns="0" rtlCol="0" anchor="ctr"/>
          <a:lstStyle/>
          <a:p>
            <a:pPr algn="ctr" indent="0" marL="0">
              <a:buNone/>
            </a:pPr>
            <a:r>
              <a:rPr lang="en-US" sz="850" b="1" dirty="0">
                <a:solidFill>
                  <a:srgbClr val="F5A623"/>
                </a:solidFill>
                <a:latin typeface="Calibri" pitchFamily="34" charset="0"/>
                <a:ea typeface="Calibri" pitchFamily="34" charset="-122"/>
                <a:cs typeface="Calibri" pitchFamily="34" charset="-120"/>
              </a:rPr>
              <a:t>4 weeks</a:t>
            </a:r>
            <a:endParaRPr lang="en-US" sz="850" dirty="0"/>
          </a:p>
        </p:txBody>
      </p:sp>
      <p:sp>
        <p:nvSpPr>
          <p:cNvPr id="26" name="Shape 24"/>
          <p:cNvSpPr/>
          <p:nvPr/>
        </p:nvSpPr>
        <p:spPr>
          <a:xfrm>
            <a:off x="7680960" y="2377440"/>
            <a:ext cx="420624" cy="548640"/>
          </a:xfrm>
          <a:prstGeom prst="roundRect">
            <a:avLst>
              <a:gd name="adj" fmla="val 17391"/>
            </a:avLst>
          </a:prstGeom>
          <a:solidFill>
            <a:srgbClr val="12321F"/>
          </a:solidFill>
          <a:ln w="9525">
            <a:solidFill>
              <a:srgbClr val="3DBE6C"/>
            </a:solidFill>
            <a:prstDash val="solid"/>
          </a:ln>
        </p:spPr>
      </p:sp>
      <p:sp>
        <p:nvSpPr>
          <p:cNvPr id="27" name="Text 25"/>
          <p:cNvSpPr/>
          <p:nvPr/>
        </p:nvSpPr>
        <p:spPr>
          <a:xfrm>
            <a:off x="7680960" y="2404872"/>
            <a:ext cx="420624" cy="228600"/>
          </a:xfrm>
          <a:prstGeom prst="rect">
            <a:avLst/>
          </a:prstGeom>
          <a:noFill/>
          <a:ln/>
        </p:spPr>
        <p:txBody>
          <a:bodyPr wrap="square" lIns="0" tIns="0" rIns="0" bIns="0" rtlCol="0" anchor="ctr"/>
          <a:lstStyle/>
          <a:p>
            <a:pPr algn="ctr" indent="0" marL="0">
              <a:buNone/>
            </a:pPr>
            <a:r>
              <a:rPr lang="en-US" sz="800" dirty="0">
                <a:solidFill>
                  <a:srgbClr val="3DBE6C"/>
                </a:solidFill>
                <a:latin typeface="Calibri" pitchFamily="34" charset="0"/>
                <a:ea typeface="Calibri" pitchFamily="34" charset="-122"/>
                <a:cs typeface="Calibri" pitchFamily="34" charset="-120"/>
              </a:rPr>
              <a:t>✓</a:t>
            </a:r>
            <a:endParaRPr lang="en-US" sz="800" dirty="0"/>
          </a:p>
        </p:txBody>
      </p:sp>
      <p:sp>
        <p:nvSpPr>
          <p:cNvPr id="28" name="Text 26"/>
          <p:cNvSpPr/>
          <p:nvPr/>
        </p:nvSpPr>
        <p:spPr>
          <a:xfrm>
            <a:off x="7680960" y="2697480"/>
            <a:ext cx="420624" cy="182880"/>
          </a:xfrm>
          <a:prstGeom prst="rect">
            <a:avLst/>
          </a:prstGeom>
          <a:noFill/>
          <a:ln/>
        </p:spPr>
        <p:txBody>
          <a:bodyPr wrap="square" lIns="0" tIns="0" rIns="0" bIns="0" rtlCol="0" anchor="ctr"/>
          <a:lstStyle/>
          <a:p>
            <a:pPr algn="ctr" indent="0" marL="0">
              <a:buNone/>
            </a:pPr>
            <a:r>
              <a:rPr lang="en-US" sz="750" dirty="0">
                <a:solidFill>
                  <a:srgbClr val="3DBE6C"/>
                </a:solidFill>
                <a:latin typeface="Calibri" pitchFamily="34" charset="0"/>
                <a:ea typeface="Calibri" pitchFamily="34" charset="-122"/>
                <a:cs typeface="Calibri" pitchFamily="34" charset="-120"/>
              </a:rPr>
              <a:t>Wk 1</a:t>
            </a:r>
            <a:endParaRPr lang="en-US" sz="750" dirty="0"/>
          </a:p>
        </p:txBody>
      </p:sp>
      <p:sp>
        <p:nvSpPr>
          <p:cNvPr id="29" name="Shape 27"/>
          <p:cNvSpPr/>
          <p:nvPr/>
        </p:nvSpPr>
        <p:spPr>
          <a:xfrm>
            <a:off x="8165592" y="2377440"/>
            <a:ext cx="420624" cy="548640"/>
          </a:xfrm>
          <a:prstGeom prst="roundRect">
            <a:avLst>
              <a:gd name="adj" fmla="val 17391"/>
            </a:avLst>
          </a:prstGeom>
          <a:solidFill>
            <a:srgbClr val="12321F"/>
          </a:solidFill>
          <a:ln w="9525">
            <a:solidFill>
              <a:srgbClr val="3DBE6C"/>
            </a:solidFill>
            <a:prstDash val="solid"/>
          </a:ln>
        </p:spPr>
      </p:sp>
      <p:sp>
        <p:nvSpPr>
          <p:cNvPr id="30" name="Text 28"/>
          <p:cNvSpPr/>
          <p:nvPr/>
        </p:nvSpPr>
        <p:spPr>
          <a:xfrm>
            <a:off x="8165592" y="2404872"/>
            <a:ext cx="420624" cy="228600"/>
          </a:xfrm>
          <a:prstGeom prst="rect">
            <a:avLst/>
          </a:prstGeom>
          <a:noFill/>
          <a:ln/>
        </p:spPr>
        <p:txBody>
          <a:bodyPr wrap="square" lIns="0" tIns="0" rIns="0" bIns="0" rtlCol="0" anchor="ctr"/>
          <a:lstStyle/>
          <a:p>
            <a:pPr algn="ctr" indent="0" marL="0">
              <a:buNone/>
            </a:pPr>
            <a:r>
              <a:rPr lang="en-US" sz="800" dirty="0">
                <a:solidFill>
                  <a:srgbClr val="3DBE6C"/>
                </a:solidFill>
                <a:latin typeface="Calibri" pitchFamily="34" charset="0"/>
                <a:ea typeface="Calibri" pitchFamily="34" charset="-122"/>
                <a:cs typeface="Calibri" pitchFamily="34" charset="-120"/>
              </a:rPr>
              <a:t>✓</a:t>
            </a:r>
            <a:endParaRPr lang="en-US" sz="800" dirty="0"/>
          </a:p>
        </p:txBody>
      </p:sp>
      <p:sp>
        <p:nvSpPr>
          <p:cNvPr id="31" name="Text 29"/>
          <p:cNvSpPr/>
          <p:nvPr/>
        </p:nvSpPr>
        <p:spPr>
          <a:xfrm>
            <a:off x="8165592" y="2697480"/>
            <a:ext cx="420624" cy="182880"/>
          </a:xfrm>
          <a:prstGeom prst="rect">
            <a:avLst/>
          </a:prstGeom>
          <a:noFill/>
          <a:ln/>
        </p:spPr>
        <p:txBody>
          <a:bodyPr wrap="square" lIns="0" tIns="0" rIns="0" bIns="0" rtlCol="0" anchor="ctr"/>
          <a:lstStyle/>
          <a:p>
            <a:pPr algn="ctr" indent="0" marL="0">
              <a:buNone/>
            </a:pPr>
            <a:r>
              <a:rPr lang="en-US" sz="750" dirty="0">
                <a:solidFill>
                  <a:srgbClr val="3DBE6C"/>
                </a:solidFill>
                <a:latin typeface="Calibri" pitchFamily="34" charset="0"/>
                <a:ea typeface="Calibri" pitchFamily="34" charset="-122"/>
                <a:cs typeface="Calibri" pitchFamily="34" charset="-120"/>
              </a:rPr>
              <a:t>Wk 2</a:t>
            </a:r>
            <a:endParaRPr lang="en-US" sz="750" dirty="0"/>
          </a:p>
        </p:txBody>
      </p:sp>
      <p:sp>
        <p:nvSpPr>
          <p:cNvPr id="32" name="Shape 30"/>
          <p:cNvSpPr/>
          <p:nvPr/>
        </p:nvSpPr>
        <p:spPr>
          <a:xfrm>
            <a:off x="8650224" y="2377440"/>
            <a:ext cx="420624" cy="548640"/>
          </a:xfrm>
          <a:prstGeom prst="roundRect">
            <a:avLst>
              <a:gd name="adj" fmla="val 17391"/>
            </a:avLst>
          </a:prstGeom>
          <a:solidFill>
            <a:srgbClr val="12321F"/>
          </a:solidFill>
          <a:ln w="9525">
            <a:solidFill>
              <a:srgbClr val="3DBE6C"/>
            </a:solidFill>
            <a:prstDash val="solid"/>
          </a:ln>
        </p:spPr>
      </p:sp>
      <p:sp>
        <p:nvSpPr>
          <p:cNvPr id="33" name="Text 31"/>
          <p:cNvSpPr/>
          <p:nvPr/>
        </p:nvSpPr>
        <p:spPr>
          <a:xfrm>
            <a:off x="8650224" y="2404872"/>
            <a:ext cx="420624" cy="228600"/>
          </a:xfrm>
          <a:prstGeom prst="rect">
            <a:avLst/>
          </a:prstGeom>
          <a:noFill/>
          <a:ln/>
        </p:spPr>
        <p:txBody>
          <a:bodyPr wrap="square" lIns="0" tIns="0" rIns="0" bIns="0" rtlCol="0" anchor="ctr"/>
          <a:lstStyle/>
          <a:p>
            <a:pPr algn="ctr" indent="0" marL="0">
              <a:buNone/>
            </a:pPr>
            <a:r>
              <a:rPr lang="en-US" sz="800" dirty="0">
                <a:solidFill>
                  <a:srgbClr val="3DBE6C"/>
                </a:solidFill>
                <a:latin typeface="Calibri" pitchFamily="34" charset="0"/>
                <a:ea typeface="Calibri" pitchFamily="34" charset="-122"/>
                <a:cs typeface="Calibri" pitchFamily="34" charset="-120"/>
              </a:rPr>
              <a:t>✓</a:t>
            </a:r>
            <a:endParaRPr lang="en-US" sz="800" dirty="0"/>
          </a:p>
        </p:txBody>
      </p:sp>
      <p:sp>
        <p:nvSpPr>
          <p:cNvPr id="34" name="Text 32"/>
          <p:cNvSpPr/>
          <p:nvPr/>
        </p:nvSpPr>
        <p:spPr>
          <a:xfrm>
            <a:off x="8650224" y="2697480"/>
            <a:ext cx="420624" cy="182880"/>
          </a:xfrm>
          <a:prstGeom prst="rect">
            <a:avLst/>
          </a:prstGeom>
          <a:noFill/>
          <a:ln/>
        </p:spPr>
        <p:txBody>
          <a:bodyPr wrap="square" lIns="0" tIns="0" rIns="0" bIns="0" rtlCol="0" anchor="ctr"/>
          <a:lstStyle/>
          <a:p>
            <a:pPr algn="ctr" indent="0" marL="0">
              <a:buNone/>
            </a:pPr>
            <a:r>
              <a:rPr lang="en-US" sz="750" dirty="0">
                <a:solidFill>
                  <a:srgbClr val="3DBE6C"/>
                </a:solidFill>
                <a:latin typeface="Calibri" pitchFamily="34" charset="0"/>
                <a:ea typeface="Calibri" pitchFamily="34" charset="-122"/>
                <a:cs typeface="Calibri" pitchFamily="34" charset="-120"/>
              </a:rPr>
              <a:t>Wk 3</a:t>
            </a:r>
            <a:endParaRPr lang="en-US" sz="750" dirty="0"/>
          </a:p>
        </p:txBody>
      </p:sp>
      <p:sp>
        <p:nvSpPr>
          <p:cNvPr id="35" name="Shape 33"/>
          <p:cNvSpPr/>
          <p:nvPr/>
        </p:nvSpPr>
        <p:spPr>
          <a:xfrm>
            <a:off x="9134856" y="2377440"/>
            <a:ext cx="420624" cy="548640"/>
          </a:xfrm>
          <a:prstGeom prst="roundRect">
            <a:avLst>
              <a:gd name="adj" fmla="val 17391"/>
            </a:avLst>
          </a:prstGeom>
          <a:solidFill>
            <a:srgbClr val="1A1A1A"/>
          </a:solidFill>
          <a:ln w="9525">
            <a:solidFill>
              <a:srgbClr val="6E6E6E"/>
            </a:solidFill>
            <a:prstDash val="solid"/>
          </a:ln>
        </p:spPr>
      </p:sp>
      <p:sp>
        <p:nvSpPr>
          <p:cNvPr id="36" name="Text 34"/>
          <p:cNvSpPr/>
          <p:nvPr/>
        </p:nvSpPr>
        <p:spPr>
          <a:xfrm>
            <a:off x="9134856" y="2404872"/>
            <a:ext cx="420624" cy="228600"/>
          </a:xfrm>
          <a:prstGeom prst="rect">
            <a:avLst/>
          </a:prstGeom>
          <a:noFill/>
          <a:ln/>
        </p:spPr>
        <p:txBody>
          <a:bodyPr wrap="square" lIns="0" tIns="0" rIns="0" bIns="0" rtlCol="0" anchor="ctr"/>
          <a:lstStyle/>
          <a:p>
            <a:pPr algn="ctr" indent="0" marL="0">
              <a:buNone/>
            </a:pPr>
            <a:r>
              <a:rPr lang="en-US" sz="800" dirty="0">
                <a:solidFill>
                  <a:srgbClr val="6E6E6E"/>
                </a:solidFill>
                <a:latin typeface="Calibri" pitchFamily="34" charset="0"/>
                <a:ea typeface="Calibri" pitchFamily="34" charset="-122"/>
                <a:cs typeface="Calibri" pitchFamily="34" charset="-120"/>
              </a:rPr>
              <a:t>-</a:t>
            </a:r>
            <a:endParaRPr lang="en-US" sz="800" dirty="0"/>
          </a:p>
        </p:txBody>
      </p:sp>
      <p:sp>
        <p:nvSpPr>
          <p:cNvPr id="37" name="Text 35"/>
          <p:cNvSpPr/>
          <p:nvPr/>
        </p:nvSpPr>
        <p:spPr>
          <a:xfrm>
            <a:off x="9134856" y="2697480"/>
            <a:ext cx="420624" cy="182880"/>
          </a:xfrm>
          <a:prstGeom prst="rect">
            <a:avLst/>
          </a:prstGeom>
          <a:noFill/>
          <a:ln/>
        </p:spPr>
        <p:txBody>
          <a:bodyPr wrap="square" lIns="0" tIns="0" rIns="0" bIns="0" rtlCol="0" anchor="ctr"/>
          <a:lstStyle/>
          <a:p>
            <a:pPr algn="ctr" indent="0" marL="0">
              <a:buNone/>
            </a:pPr>
            <a:r>
              <a:rPr lang="en-US" sz="750" dirty="0">
                <a:solidFill>
                  <a:srgbClr val="6E6E6E"/>
                </a:solidFill>
                <a:latin typeface="Calibri" pitchFamily="34" charset="0"/>
                <a:ea typeface="Calibri" pitchFamily="34" charset="-122"/>
                <a:cs typeface="Calibri" pitchFamily="34" charset="-120"/>
              </a:rPr>
              <a:t>Wk 4</a:t>
            </a:r>
            <a:endParaRPr lang="en-US" sz="750" dirty="0"/>
          </a:p>
        </p:txBody>
      </p:sp>
      <p:sp>
        <p:nvSpPr>
          <p:cNvPr id="38" name="Shape 36"/>
          <p:cNvSpPr/>
          <p:nvPr/>
        </p:nvSpPr>
        <p:spPr>
          <a:xfrm>
            <a:off x="7680960" y="3154680"/>
            <a:ext cx="2011680" cy="0"/>
          </a:xfrm>
          <a:prstGeom prst="line">
            <a:avLst/>
          </a:prstGeom>
          <a:noFill/>
          <a:ln w="6350">
            <a:solidFill>
              <a:srgbClr val="6E6E6E"/>
            </a:solidFill>
            <a:prstDash val="solid"/>
          </a:ln>
        </p:spPr>
      </p:sp>
      <p:sp>
        <p:nvSpPr>
          <p:cNvPr id="39" name="Text 37"/>
          <p:cNvSpPr/>
          <p:nvPr/>
        </p:nvSpPr>
        <p:spPr>
          <a:xfrm>
            <a:off x="7680960" y="3246120"/>
            <a:ext cx="2011680" cy="274320"/>
          </a:xfrm>
          <a:prstGeom prst="rect">
            <a:avLst/>
          </a:prstGeom>
          <a:noFill/>
          <a:ln/>
        </p:spPr>
        <p:txBody>
          <a:bodyPr wrap="square" lIns="0" tIns="0" rIns="0" bIns="0" rtlCol="0" anchor="ctr"/>
          <a:lstStyle/>
          <a:p>
            <a:pPr indent="0" marL="0">
              <a:buNone/>
            </a:pPr>
            <a:r>
              <a:rPr lang="en-US" sz="850" dirty="0">
                <a:solidFill>
                  <a:srgbClr val="B0B0B0"/>
                </a:solidFill>
                <a:latin typeface="Calibri" pitchFamily="34" charset="0"/>
                <a:ea typeface="Calibri" pitchFamily="34" charset="-122"/>
                <a:cs typeface="Calibri" pitchFamily="34" charset="-120"/>
              </a:rPr>
              <a:t>Ride once more this week to unlock:</a:t>
            </a:r>
            <a:endParaRPr lang="en-US" sz="850" dirty="0"/>
          </a:p>
        </p:txBody>
      </p:sp>
      <p:sp>
        <p:nvSpPr>
          <p:cNvPr id="40" name="Text 38"/>
          <p:cNvSpPr/>
          <p:nvPr/>
        </p:nvSpPr>
        <p:spPr>
          <a:xfrm>
            <a:off x="7680960" y="3520440"/>
            <a:ext cx="2011680" cy="274320"/>
          </a:xfrm>
          <a:prstGeom prst="rect">
            <a:avLst/>
          </a:prstGeom>
          <a:noFill/>
          <a:ln/>
        </p:spPr>
        <p:txBody>
          <a:bodyPr wrap="square" lIns="0" tIns="0" rIns="0" bIns="0" rtlCol="0" anchor="ctr"/>
          <a:lstStyle/>
          <a:p>
            <a:pPr indent="0" marL="0">
              <a:buNone/>
            </a:pPr>
            <a:r>
              <a:rPr lang="en-US" sz="950" b="1" dirty="0">
                <a:solidFill>
                  <a:srgbClr val="F5A623"/>
                </a:solidFill>
                <a:latin typeface="Calibri" pitchFamily="34" charset="0"/>
                <a:ea typeface="Calibri" pitchFamily="34" charset="-122"/>
                <a:cs typeface="Calibri" pitchFamily="34" charset="-120"/>
              </a:rPr>
              <a:t>Free upgrade to Sedan tier</a:t>
            </a:r>
            <a:endParaRPr lang="en-US" sz="950" dirty="0"/>
          </a:p>
        </p:txBody>
      </p:sp>
      <p:sp>
        <p:nvSpPr>
          <p:cNvPr id="41" name="Text 39"/>
          <p:cNvSpPr/>
          <p:nvPr/>
        </p:nvSpPr>
        <p:spPr>
          <a:xfrm>
            <a:off x="7498080" y="5074920"/>
            <a:ext cx="2834640" cy="594360"/>
          </a:xfrm>
          <a:prstGeom prst="rect">
            <a:avLst/>
          </a:prstGeom>
          <a:noFill/>
          <a:ln/>
        </p:spPr>
        <p:txBody>
          <a:bodyPr wrap="square" lIns="0" tIns="0" rIns="0" bIns="0" rtlCol="0" anchor="ctr"/>
          <a:lstStyle/>
          <a:p>
            <a:pPr algn="ctr" indent="0" marL="0">
              <a:buNone/>
            </a:pPr>
            <a:r>
              <a:rPr lang="en-US" sz="950" i="1" dirty="0">
                <a:solidFill>
                  <a:srgbClr val="B0B0B0"/>
                </a:solidFill>
                <a:latin typeface="Calibri" pitchFamily="34" charset="0"/>
                <a:ea typeface="Calibri" pitchFamily="34" charset="-122"/>
                <a:cs typeface="Calibri" pitchFamily="34" charset="-120"/>
              </a:rPr>
              <a:t>Rewards tab, weekly streak card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457200" y="256032"/>
            <a:ext cx="457200" cy="310896"/>
          </a:xfrm>
          <a:prstGeom prst="roundRect">
            <a:avLst>
              <a:gd name="adj" fmla="val 17647"/>
            </a:avLst>
          </a:prstGeom>
          <a:solidFill>
            <a:srgbClr val="1A1A1A"/>
          </a:solidFill>
          <a:ln/>
        </p:spPr>
      </p:sp>
      <p:sp>
        <p:nvSpPr>
          <p:cNvPr id="3" name="Text 1"/>
          <p:cNvSpPr/>
          <p:nvPr/>
        </p:nvSpPr>
        <p:spPr>
          <a:xfrm>
            <a:off x="457200" y="256032"/>
            <a:ext cx="457200" cy="310896"/>
          </a:xfrm>
          <a:prstGeom prst="rect">
            <a:avLst/>
          </a:prstGeom>
          <a:noFill/>
          <a:ln/>
        </p:spPr>
        <p:txBody>
          <a:bodyPr wrap="square" rtlCol="0" anchor="ctr"/>
          <a:lstStyle/>
          <a:p>
            <a:pPr algn="ctr" indent="0" marL="0">
              <a:buNone/>
            </a:pPr>
            <a:r>
              <a:rPr lang="en-US" sz="1400" b="1" dirty="0">
                <a:solidFill>
                  <a:srgbClr val="F5A623"/>
                </a:solidFill>
                <a:latin typeface="Arial" pitchFamily="34" charset="0"/>
                <a:ea typeface="Arial" pitchFamily="34" charset="-122"/>
                <a:cs typeface="Arial" pitchFamily="34" charset="-120"/>
              </a:rPr>
              <a:t>R</a:t>
            </a:r>
            <a:endParaRPr lang="en-US" sz="1400" dirty="0"/>
          </a:p>
        </p:txBody>
      </p:sp>
      <p:sp>
        <p:nvSpPr>
          <p:cNvPr id="4" name="Text 2"/>
          <p:cNvSpPr/>
          <p:nvPr/>
        </p:nvSpPr>
        <p:spPr>
          <a:xfrm>
            <a:off x="1097280" y="274320"/>
            <a:ext cx="969264"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OVERVIEW</a:t>
            </a:r>
            <a:endParaRPr lang="en-US" sz="1000" dirty="0"/>
          </a:p>
        </p:txBody>
      </p:sp>
      <p:sp>
        <p:nvSpPr>
          <p:cNvPr id="5" name="Text 3"/>
          <p:cNvSpPr/>
          <p:nvPr/>
        </p:nvSpPr>
        <p:spPr>
          <a:xfrm>
            <a:off x="2203704" y="274320"/>
            <a:ext cx="1751076"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PROBLEM STATEMENT</a:t>
            </a:r>
            <a:endParaRPr lang="en-US" sz="1000" dirty="0"/>
          </a:p>
        </p:txBody>
      </p:sp>
      <p:sp>
        <p:nvSpPr>
          <p:cNvPr id="6" name="Text 4"/>
          <p:cNvSpPr/>
          <p:nvPr/>
        </p:nvSpPr>
        <p:spPr>
          <a:xfrm>
            <a:off x="4091940" y="274320"/>
            <a:ext cx="1403604"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USER PERSONAS</a:t>
            </a:r>
            <a:endParaRPr lang="en-US" sz="1000" dirty="0"/>
          </a:p>
        </p:txBody>
      </p:sp>
      <p:sp>
        <p:nvSpPr>
          <p:cNvPr id="7" name="Shape 5"/>
          <p:cNvSpPr/>
          <p:nvPr/>
        </p:nvSpPr>
        <p:spPr>
          <a:xfrm>
            <a:off x="5632704" y="274320"/>
            <a:ext cx="1056132" cy="274320"/>
          </a:xfrm>
          <a:prstGeom prst="roundRect">
            <a:avLst>
              <a:gd name="adj" fmla="val 50000"/>
            </a:avLst>
          </a:prstGeom>
          <a:solidFill>
            <a:srgbClr val="F5A623"/>
          </a:solidFill>
          <a:ln/>
        </p:spPr>
      </p:sp>
      <p:sp>
        <p:nvSpPr>
          <p:cNvPr id="8" name="Text 6"/>
          <p:cNvSpPr/>
          <p:nvPr/>
        </p:nvSpPr>
        <p:spPr>
          <a:xfrm>
            <a:off x="5632704" y="274320"/>
            <a:ext cx="1056132" cy="274320"/>
          </a:xfrm>
          <a:prstGeom prst="rect">
            <a:avLst/>
          </a:prstGeom>
          <a:noFill/>
          <a:ln/>
        </p:spPr>
        <p:txBody>
          <a:bodyPr wrap="square" lIns="0" tIns="0" rIns="0" bIns="0" rtlCol="0" anchor="ctr"/>
          <a:lstStyle/>
          <a:p>
            <a:pPr algn="ctr" indent="0" marL="0">
              <a:buNone/>
            </a:pPr>
            <a:r>
              <a:rPr lang="en-US" sz="1000" b="1" dirty="0">
                <a:solidFill>
                  <a:srgbClr val="1A1A00"/>
                </a:solidFill>
                <a:latin typeface="Calibri" pitchFamily="34" charset="0"/>
                <a:ea typeface="Calibri" pitchFamily="34" charset="-122"/>
                <a:cs typeface="Calibri" pitchFamily="34" charset="-120"/>
              </a:rPr>
              <a:t>SOLUTIONS</a:t>
            </a:r>
            <a:endParaRPr lang="en-US" sz="1000" dirty="0"/>
          </a:p>
        </p:txBody>
      </p:sp>
      <p:sp>
        <p:nvSpPr>
          <p:cNvPr id="9" name="Text 7"/>
          <p:cNvSpPr/>
          <p:nvPr/>
        </p:nvSpPr>
        <p:spPr>
          <a:xfrm>
            <a:off x="6825996" y="274320"/>
            <a:ext cx="1490472"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PRIORITIZATION</a:t>
            </a:r>
            <a:endParaRPr lang="en-US" sz="1000" dirty="0"/>
          </a:p>
        </p:txBody>
      </p:sp>
      <p:sp>
        <p:nvSpPr>
          <p:cNvPr id="10" name="Text 8"/>
          <p:cNvSpPr/>
          <p:nvPr/>
        </p:nvSpPr>
        <p:spPr>
          <a:xfrm>
            <a:off x="8453628" y="274320"/>
            <a:ext cx="621792"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KPIs</a:t>
            </a:r>
            <a:endParaRPr lang="en-US" sz="1000" dirty="0"/>
          </a:p>
        </p:txBody>
      </p:sp>
      <p:sp>
        <p:nvSpPr>
          <p:cNvPr id="11" name="Text 9"/>
          <p:cNvSpPr/>
          <p:nvPr/>
        </p:nvSpPr>
        <p:spPr>
          <a:xfrm>
            <a:off x="457200" y="777240"/>
            <a:ext cx="112471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Potential solution: Driver Familiarity Match</a:t>
            </a:r>
            <a:endParaRPr lang="en-US" sz="3000" dirty="0"/>
          </a:p>
        </p:txBody>
      </p:sp>
      <p:sp>
        <p:nvSpPr>
          <p:cNvPr id="12" name="Shape 10"/>
          <p:cNvSpPr/>
          <p:nvPr/>
        </p:nvSpPr>
        <p:spPr>
          <a:xfrm>
            <a:off x="457200" y="1600200"/>
            <a:ext cx="6492240" cy="1600200"/>
          </a:xfrm>
          <a:prstGeom prst="roundRect">
            <a:avLst>
              <a:gd name="adj" fmla="val 4571"/>
            </a:avLst>
          </a:prstGeom>
          <a:solidFill>
            <a:srgbClr val="1A1A1A"/>
          </a:solidFill>
          <a:ln/>
        </p:spPr>
      </p:sp>
      <p:sp>
        <p:nvSpPr>
          <p:cNvPr id="13" name="Text 11"/>
          <p:cNvSpPr/>
          <p:nvPr/>
        </p:nvSpPr>
        <p:spPr>
          <a:xfrm>
            <a:off x="685800" y="1737360"/>
            <a:ext cx="6035040" cy="274320"/>
          </a:xfrm>
          <a:prstGeom prst="rect">
            <a:avLst/>
          </a:prstGeom>
          <a:noFill/>
          <a:ln/>
        </p:spPr>
        <p:txBody>
          <a:bodyPr wrap="square" lIns="0" tIns="0" rIns="0" bIns="0" rtlCol="0" anchor="ctr"/>
          <a:lstStyle/>
          <a:p>
            <a:pPr indent="0" marL="0">
              <a:buNone/>
            </a:pPr>
            <a:r>
              <a:rPr lang="en-US" sz="1400" b="1" dirty="0">
                <a:solidFill>
                  <a:srgbClr val="F5A623"/>
                </a:solidFill>
                <a:latin typeface="Cambria" pitchFamily="34" charset="0"/>
                <a:ea typeface="Cambria" pitchFamily="34" charset="-122"/>
                <a:cs typeface="Cambria" pitchFamily="34" charset="-120"/>
              </a:rPr>
              <a:t>Explanation</a:t>
            </a:r>
            <a:endParaRPr lang="en-US" sz="1400" dirty="0"/>
          </a:p>
        </p:txBody>
      </p:sp>
      <p:sp>
        <p:nvSpPr>
          <p:cNvPr id="14" name="Text 12"/>
          <p:cNvSpPr/>
          <p:nvPr/>
        </p:nvSpPr>
        <p:spPr>
          <a:xfrm>
            <a:off x="685800" y="2029968"/>
            <a:ext cx="6035040" cy="1097280"/>
          </a:xfrm>
          <a:prstGeom prst="rect">
            <a:avLst/>
          </a:prstGeom>
          <a:noFill/>
          <a:ln/>
        </p:spPr>
        <p:txBody>
          <a:bodyPr wrap="square" lIns="0" tIns="0" rIns="0" bIns="0" rtlCol="0" anchor="ctr"/>
          <a:lstStyle/>
          <a:p>
            <a:pPr indent="0" marL="0">
              <a:lnSpc>
                <a:spcPct val="125000"/>
              </a:lnSpc>
              <a:buNone/>
            </a:pPr>
            <a:r>
              <a:rPr lang="en-US" sz="1150" dirty="0">
                <a:solidFill>
                  <a:srgbClr val="B0B0B0"/>
                </a:solidFill>
                <a:latin typeface="Calibri" pitchFamily="34" charset="0"/>
                <a:ea typeface="Calibri" pitchFamily="34" charset="-122"/>
                <a:cs typeface="Calibri" pitchFamily="34" charset="-120"/>
              </a:rPr>
              <a:t>For frequent routes such as a daily commute, riders can opt in to being matched with a small pool of previously-rated, familiar drivers whenever one is available nearby, improving trust and comfort on repeat trips.</a:t>
            </a:r>
            <a:endParaRPr lang="en-US" sz="1150" dirty="0"/>
          </a:p>
        </p:txBody>
      </p:sp>
      <p:sp>
        <p:nvSpPr>
          <p:cNvPr id="15" name="Shape 13"/>
          <p:cNvSpPr/>
          <p:nvPr/>
        </p:nvSpPr>
        <p:spPr>
          <a:xfrm>
            <a:off x="457200" y="3337560"/>
            <a:ext cx="3154680" cy="2606040"/>
          </a:xfrm>
          <a:prstGeom prst="roundRect">
            <a:avLst>
              <a:gd name="adj" fmla="val 2807"/>
            </a:avLst>
          </a:prstGeom>
          <a:solidFill>
            <a:srgbClr val="1A1A1A"/>
          </a:solidFill>
          <a:ln/>
        </p:spPr>
      </p:sp>
      <p:sp>
        <p:nvSpPr>
          <p:cNvPr id="16" name="Text 14"/>
          <p:cNvSpPr/>
          <p:nvPr/>
        </p:nvSpPr>
        <p:spPr>
          <a:xfrm>
            <a:off x="685800" y="3474720"/>
            <a:ext cx="2743200" cy="274320"/>
          </a:xfrm>
          <a:prstGeom prst="rect">
            <a:avLst/>
          </a:prstGeom>
          <a:noFill/>
          <a:ln/>
        </p:spPr>
        <p:txBody>
          <a:bodyPr wrap="square" lIns="0" tIns="0" rIns="0" bIns="0" rtlCol="0" anchor="ctr"/>
          <a:lstStyle/>
          <a:p>
            <a:pPr indent="0" marL="0">
              <a:buNone/>
            </a:pPr>
            <a:r>
              <a:rPr lang="en-US" sz="1400" b="1" dirty="0">
                <a:solidFill>
                  <a:srgbClr val="F5A623"/>
                </a:solidFill>
                <a:latin typeface="Cambria" pitchFamily="34" charset="0"/>
                <a:ea typeface="Cambria" pitchFamily="34" charset="-122"/>
                <a:cs typeface="Cambria" pitchFamily="34" charset="-120"/>
              </a:rPr>
              <a:t>Impact</a:t>
            </a:r>
            <a:endParaRPr lang="en-US" sz="1400" dirty="0"/>
          </a:p>
        </p:txBody>
      </p:sp>
      <p:sp>
        <p:nvSpPr>
          <p:cNvPr id="17" name="Text 15"/>
          <p:cNvSpPr/>
          <p:nvPr/>
        </p:nvSpPr>
        <p:spPr>
          <a:xfrm>
            <a:off x="685800" y="3794760"/>
            <a:ext cx="2743200" cy="2011680"/>
          </a:xfrm>
          <a:prstGeom prst="rect">
            <a:avLst/>
          </a:prstGeom>
          <a:noFill/>
          <a:ln/>
        </p:spPr>
        <p:txBody>
          <a:bodyPr wrap="square" lIns="0" tIns="0" rIns="0" bIns="0" rtlCol="0" anchor="ctr"/>
          <a:lstStyle/>
          <a:p>
            <a:pPr marL="342900" indent="-342900">
              <a:lnSpc>
                <a:spcPct val="125000"/>
              </a:lnSpc>
              <a:buSzPct val="100000"/>
              <a:buChar char="•"/>
            </a:pPr>
            <a:r>
              <a:rPr lang="en-US" sz="1050" dirty="0">
                <a:solidFill>
                  <a:srgbClr val="B0B0B0"/>
                </a:solidFill>
                <a:latin typeface="Calibri" pitchFamily="34" charset="0"/>
                <a:ea typeface="Calibri" pitchFamily="34" charset="-122"/>
                <a:cs typeface="Calibri" pitchFamily="34" charset="-120"/>
              </a:rPr>
              <a:t>Directly addresses inconsistent driver quality, the top switching trigger</a:t>
            </a:r>
            <a:endParaRPr lang="en-US" sz="1050" dirty="0"/>
          </a:p>
          <a:p>
            <a:pPr marL="342900" indent="-342900">
              <a:lnSpc>
                <a:spcPct val="125000"/>
              </a:lnSpc>
              <a:buSzPct val="100000"/>
              <a:buChar char="•"/>
            </a:pPr>
            <a:r>
              <a:rPr lang="en-US" sz="1050" dirty="0">
                <a:solidFill>
                  <a:srgbClr val="B0B0B0"/>
                </a:solidFill>
                <a:latin typeface="Calibri" pitchFamily="34" charset="0"/>
                <a:ea typeface="Calibri" pitchFamily="34" charset="-122"/>
                <a:cs typeface="Calibri" pitchFamily="34" charset="-120"/>
              </a:rPr>
              <a:t>Builds a relationship layer that price comparison can't replicate</a:t>
            </a:r>
            <a:endParaRPr lang="en-US" sz="1050" dirty="0"/>
          </a:p>
          <a:p>
            <a:pPr marL="342900" indent="-342900">
              <a:lnSpc>
                <a:spcPct val="125000"/>
              </a:lnSpc>
              <a:buSzPct val="100000"/>
              <a:buChar char="•"/>
            </a:pPr>
            <a:r>
              <a:rPr lang="en-US" sz="1050" dirty="0">
                <a:solidFill>
                  <a:srgbClr val="B0B0B0"/>
                </a:solidFill>
                <a:latin typeface="Calibri" pitchFamily="34" charset="0"/>
                <a:ea typeface="Calibri" pitchFamily="34" charset="-122"/>
                <a:cs typeface="Calibri" pitchFamily="34" charset="-120"/>
              </a:rPr>
              <a:t>Requires only matching-logic changes, no new driver-side hardware</a:t>
            </a:r>
            <a:endParaRPr lang="en-US" sz="1050" dirty="0"/>
          </a:p>
        </p:txBody>
      </p:sp>
      <p:sp>
        <p:nvSpPr>
          <p:cNvPr id="18" name="Shape 16"/>
          <p:cNvSpPr/>
          <p:nvPr/>
        </p:nvSpPr>
        <p:spPr>
          <a:xfrm>
            <a:off x="3794760" y="3337560"/>
            <a:ext cx="3154680" cy="2606040"/>
          </a:xfrm>
          <a:prstGeom prst="roundRect">
            <a:avLst>
              <a:gd name="adj" fmla="val 2807"/>
            </a:avLst>
          </a:prstGeom>
          <a:solidFill>
            <a:srgbClr val="1A1A1A"/>
          </a:solidFill>
          <a:ln/>
        </p:spPr>
      </p:sp>
      <p:sp>
        <p:nvSpPr>
          <p:cNvPr id="19" name="Text 17"/>
          <p:cNvSpPr/>
          <p:nvPr/>
        </p:nvSpPr>
        <p:spPr>
          <a:xfrm>
            <a:off x="4023360" y="3474720"/>
            <a:ext cx="2743200" cy="274320"/>
          </a:xfrm>
          <a:prstGeom prst="rect">
            <a:avLst/>
          </a:prstGeom>
          <a:noFill/>
          <a:ln/>
        </p:spPr>
        <p:txBody>
          <a:bodyPr wrap="square" lIns="0" tIns="0" rIns="0" bIns="0" rtlCol="0" anchor="ctr"/>
          <a:lstStyle/>
          <a:p>
            <a:pPr indent="0" marL="0">
              <a:buNone/>
            </a:pPr>
            <a:r>
              <a:rPr lang="en-US" sz="1400" b="1" dirty="0">
                <a:solidFill>
                  <a:srgbClr val="F5A623"/>
                </a:solidFill>
                <a:latin typeface="Cambria" pitchFamily="34" charset="0"/>
                <a:ea typeface="Cambria" pitchFamily="34" charset="-122"/>
                <a:cs typeface="Cambria" pitchFamily="34" charset="-120"/>
              </a:rPr>
              <a:t>Benefit</a:t>
            </a:r>
            <a:endParaRPr lang="en-US" sz="1400" dirty="0"/>
          </a:p>
        </p:txBody>
      </p:sp>
      <p:sp>
        <p:nvSpPr>
          <p:cNvPr id="20" name="Text 18"/>
          <p:cNvSpPr/>
          <p:nvPr/>
        </p:nvSpPr>
        <p:spPr>
          <a:xfrm>
            <a:off x="4023360" y="3794760"/>
            <a:ext cx="2743200" cy="2011680"/>
          </a:xfrm>
          <a:prstGeom prst="rect">
            <a:avLst/>
          </a:prstGeom>
          <a:noFill/>
          <a:ln/>
        </p:spPr>
        <p:txBody>
          <a:bodyPr wrap="square" lIns="0" tIns="0" rIns="0" bIns="0" rtlCol="0" anchor="ctr"/>
          <a:lstStyle/>
          <a:p>
            <a:pPr marL="342900" indent="-342900">
              <a:lnSpc>
                <a:spcPct val="125000"/>
              </a:lnSpc>
              <a:buSzPct val="100000"/>
              <a:buChar char="•"/>
            </a:pPr>
            <a:r>
              <a:rPr lang="en-US" sz="1050" dirty="0">
                <a:solidFill>
                  <a:srgbClr val="B0B0B0"/>
                </a:solidFill>
                <a:latin typeface="Calibri" pitchFamily="34" charset="0"/>
                <a:ea typeface="Calibri" pitchFamily="34" charset="-122"/>
                <a:cs typeface="Calibri" pitchFamily="34" charset="-120"/>
              </a:rPr>
              <a:t>Reduced ride anxiety on daily routes</a:t>
            </a:r>
            <a:endParaRPr lang="en-US" sz="1050" dirty="0"/>
          </a:p>
          <a:p>
            <a:pPr marL="342900" indent="-342900">
              <a:lnSpc>
                <a:spcPct val="125000"/>
              </a:lnSpc>
              <a:buSzPct val="100000"/>
              <a:buChar char="•"/>
            </a:pPr>
            <a:r>
              <a:rPr lang="en-US" sz="1050" dirty="0">
                <a:solidFill>
                  <a:srgbClr val="B0B0B0"/>
                </a:solidFill>
                <a:latin typeface="Calibri" pitchFamily="34" charset="0"/>
                <a:ea typeface="Calibri" pitchFamily="34" charset="-122"/>
                <a:cs typeface="Calibri" pitchFamily="34" charset="-120"/>
              </a:rPr>
              <a:t>Higher satisfaction ratings on repeat trips</a:t>
            </a:r>
            <a:endParaRPr lang="en-US" sz="1050" dirty="0"/>
          </a:p>
          <a:p>
            <a:pPr marL="342900" indent="-342900">
              <a:lnSpc>
                <a:spcPct val="125000"/>
              </a:lnSpc>
              <a:buSzPct val="100000"/>
              <a:buChar char="•"/>
            </a:pPr>
            <a:r>
              <a:rPr lang="en-US" sz="1050" dirty="0">
                <a:solidFill>
                  <a:srgbClr val="B0B0B0"/>
                </a:solidFill>
                <a:latin typeface="Calibri" pitchFamily="34" charset="0"/>
                <a:ea typeface="Calibri" pitchFamily="34" charset="-122"/>
                <a:cs typeface="Calibri" pitchFamily="34" charset="-120"/>
              </a:rPr>
              <a:t>An emotional, not just transactional, reason to stay</a:t>
            </a:r>
            <a:endParaRPr lang="en-US" sz="1050" dirty="0"/>
          </a:p>
        </p:txBody>
      </p:sp>
      <p:sp>
        <p:nvSpPr>
          <p:cNvPr id="21" name="Shape 19"/>
          <p:cNvSpPr/>
          <p:nvPr/>
        </p:nvSpPr>
        <p:spPr>
          <a:xfrm>
            <a:off x="7360920" y="1600200"/>
            <a:ext cx="2651760" cy="4343400"/>
          </a:xfrm>
          <a:prstGeom prst="roundRect">
            <a:avLst>
              <a:gd name="adj" fmla="val 8621"/>
            </a:avLst>
          </a:prstGeom>
          <a:solidFill>
            <a:srgbClr val="000000"/>
          </a:solidFill>
          <a:ln w="12700">
            <a:solidFill>
              <a:srgbClr val="6E6E6E"/>
            </a:solidFill>
            <a:prstDash val="solid"/>
          </a:ln>
        </p:spPr>
      </p:sp>
      <p:sp>
        <p:nvSpPr>
          <p:cNvPr id="22" name="Shape 20"/>
          <p:cNvSpPr/>
          <p:nvPr/>
        </p:nvSpPr>
        <p:spPr>
          <a:xfrm>
            <a:off x="7543800" y="1783080"/>
            <a:ext cx="2286000" cy="3977640"/>
          </a:xfrm>
          <a:prstGeom prst="roundRect">
            <a:avLst>
              <a:gd name="adj" fmla="val 4000"/>
            </a:avLst>
          </a:prstGeom>
          <a:solidFill>
            <a:srgbClr val="141414"/>
          </a:solidFill>
          <a:ln/>
        </p:spPr>
      </p:sp>
      <p:sp>
        <p:nvSpPr>
          <p:cNvPr id="23" name="Text 21"/>
          <p:cNvSpPr/>
          <p:nvPr/>
        </p:nvSpPr>
        <p:spPr>
          <a:xfrm>
            <a:off x="7680960" y="1947672"/>
            <a:ext cx="201168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Preferred drivers nearby</a:t>
            </a:r>
            <a:endParaRPr lang="en-US" sz="1050" dirty="0"/>
          </a:p>
        </p:txBody>
      </p:sp>
      <p:sp>
        <p:nvSpPr>
          <p:cNvPr id="24" name="Shape 22"/>
          <p:cNvSpPr/>
          <p:nvPr/>
        </p:nvSpPr>
        <p:spPr>
          <a:xfrm>
            <a:off x="7680960" y="2331720"/>
            <a:ext cx="2011680" cy="640080"/>
          </a:xfrm>
          <a:prstGeom prst="roundRect">
            <a:avLst>
              <a:gd name="adj" fmla="val 11429"/>
            </a:avLst>
          </a:prstGeom>
          <a:solidFill>
            <a:srgbClr val="1A1A1A"/>
          </a:solidFill>
          <a:ln/>
        </p:spPr>
      </p:sp>
      <p:sp>
        <p:nvSpPr>
          <p:cNvPr id="25" name="Shape 23"/>
          <p:cNvSpPr/>
          <p:nvPr/>
        </p:nvSpPr>
        <p:spPr>
          <a:xfrm>
            <a:off x="7818120" y="2450592"/>
            <a:ext cx="402336" cy="402336"/>
          </a:xfrm>
          <a:prstGeom prst="ellipse">
            <a:avLst/>
          </a:prstGeom>
          <a:solidFill>
            <a:srgbClr val="8A5A0F"/>
          </a:solidFill>
          <a:ln/>
        </p:spPr>
      </p:sp>
      <p:sp>
        <p:nvSpPr>
          <p:cNvPr id="26" name="Text 24"/>
          <p:cNvSpPr/>
          <p:nvPr/>
        </p:nvSpPr>
        <p:spPr>
          <a:xfrm>
            <a:off x="7818120" y="245059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t>
            </a:r>
            <a:endParaRPr lang="en-US" sz="1100" dirty="0"/>
          </a:p>
        </p:txBody>
      </p:sp>
      <p:sp>
        <p:nvSpPr>
          <p:cNvPr id="27" name="Text 25"/>
          <p:cNvSpPr/>
          <p:nvPr/>
        </p:nvSpPr>
        <p:spPr>
          <a:xfrm>
            <a:off x="8321040" y="2404872"/>
            <a:ext cx="1280160" cy="237744"/>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 Kumar</a:t>
            </a:r>
            <a:endParaRPr lang="en-US" sz="950" dirty="0"/>
          </a:p>
        </p:txBody>
      </p:sp>
      <p:sp>
        <p:nvSpPr>
          <p:cNvPr id="28" name="Text 26"/>
          <p:cNvSpPr/>
          <p:nvPr/>
        </p:nvSpPr>
        <p:spPr>
          <a:xfrm>
            <a:off x="8321040" y="2651760"/>
            <a:ext cx="1280160" cy="237744"/>
          </a:xfrm>
          <a:prstGeom prst="rect">
            <a:avLst/>
          </a:prstGeom>
          <a:noFill/>
          <a:ln/>
        </p:spPr>
        <p:txBody>
          <a:bodyPr wrap="square" lIns="0" tIns="0" rIns="0" bIns="0" rtlCol="0" anchor="ctr"/>
          <a:lstStyle/>
          <a:p>
            <a:pPr indent="0" marL="0">
              <a:buNone/>
            </a:pPr>
            <a:r>
              <a:rPr lang="en-US" sz="800" dirty="0">
                <a:solidFill>
                  <a:srgbClr val="B0B0B0"/>
                </a:solidFill>
                <a:latin typeface="Calibri" pitchFamily="34" charset="0"/>
                <a:ea typeface="Calibri" pitchFamily="34" charset="-122"/>
                <a:cs typeface="Calibri" pitchFamily="34" charset="-120"/>
              </a:rPr>
              <a:t>4.9 rating  ·  2 min away</a:t>
            </a:r>
            <a:endParaRPr lang="en-US" sz="800" dirty="0"/>
          </a:p>
        </p:txBody>
      </p:sp>
      <p:sp>
        <p:nvSpPr>
          <p:cNvPr id="29" name="Shape 27"/>
          <p:cNvSpPr/>
          <p:nvPr/>
        </p:nvSpPr>
        <p:spPr>
          <a:xfrm>
            <a:off x="7680960" y="3108960"/>
            <a:ext cx="2011680" cy="640080"/>
          </a:xfrm>
          <a:prstGeom prst="roundRect">
            <a:avLst>
              <a:gd name="adj" fmla="val 11429"/>
            </a:avLst>
          </a:prstGeom>
          <a:solidFill>
            <a:srgbClr val="1A1A1A"/>
          </a:solidFill>
          <a:ln/>
        </p:spPr>
      </p:sp>
      <p:sp>
        <p:nvSpPr>
          <p:cNvPr id="30" name="Shape 28"/>
          <p:cNvSpPr/>
          <p:nvPr/>
        </p:nvSpPr>
        <p:spPr>
          <a:xfrm>
            <a:off x="7818120" y="3227832"/>
            <a:ext cx="402336" cy="402336"/>
          </a:xfrm>
          <a:prstGeom prst="ellipse">
            <a:avLst/>
          </a:prstGeom>
          <a:solidFill>
            <a:srgbClr val="8A5A0F"/>
          </a:solidFill>
          <a:ln/>
        </p:spPr>
      </p:sp>
      <p:sp>
        <p:nvSpPr>
          <p:cNvPr id="31" name="Text 29"/>
          <p:cNvSpPr/>
          <p:nvPr/>
        </p:nvSpPr>
        <p:spPr>
          <a:xfrm>
            <a:off x="7818120" y="322783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t>
            </a:r>
            <a:endParaRPr lang="en-US" sz="1100" dirty="0"/>
          </a:p>
        </p:txBody>
      </p:sp>
      <p:sp>
        <p:nvSpPr>
          <p:cNvPr id="32" name="Text 30"/>
          <p:cNvSpPr/>
          <p:nvPr/>
        </p:nvSpPr>
        <p:spPr>
          <a:xfrm>
            <a:off x="8321040" y="3182112"/>
            <a:ext cx="1280160" cy="237744"/>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 Iyer</a:t>
            </a:r>
            <a:endParaRPr lang="en-US" sz="950" dirty="0"/>
          </a:p>
        </p:txBody>
      </p:sp>
      <p:sp>
        <p:nvSpPr>
          <p:cNvPr id="33" name="Text 31"/>
          <p:cNvSpPr/>
          <p:nvPr/>
        </p:nvSpPr>
        <p:spPr>
          <a:xfrm>
            <a:off x="8321040" y="3429000"/>
            <a:ext cx="1280160" cy="237744"/>
          </a:xfrm>
          <a:prstGeom prst="rect">
            <a:avLst/>
          </a:prstGeom>
          <a:noFill/>
          <a:ln/>
        </p:spPr>
        <p:txBody>
          <a:bodyPr wrap="square" lIns="0" tIns="0" rIns="0" bIns="0" rtlCol="0" anchor="ctr"/>
          <a:lstStyle/>
          <a:p>
            <a:pPr indent="0" marL="0">
              <a:buNone/>
            </a:pPr>
            <a:r>
              <a:rPr lang="en-US" sz="800" dirty="0">
                <a:solidFill>
                  <a:srgbClr val="B0B0B0"/>
                </a:solidFill>
                <a:latin typeface="Calibri" pitchFamily="34" charset="0"/>
                <a:ea typeface="Calibri" pitchFamily="34" charset="-122"/>
                <a:cs typeface="Calibri" pitchFamily="34" charset="-120"/>
              </a:rPr>
              <a:t>4.8 rating  ·  5 min away</a:t>
            </a:r>
            <a:endParaRPr lang="en-US" sz="800" dirty="0"/>
          </a:p>
        </p:txBody>
      </p:sp>
      <p:sp>
        <p:nvSpPr>
          <p:cNvPr id="34" name="Text 32"/>
          <p:cNvSpPr/>
          <p:nvPr/>
        </p:nvSpPr>
        <p:spPr>
          <a:xfrm>
            <a:off x="7680960" y="3977640"/>
            <a:ext cx="2011680" cy="365760"/>
          </a:xfrm>
          <a:prstGeom prst="rect">
            <a:avLst/>
          </a:prstGeom>
          <a:noFill/>
          <a:ln/>
        </p:spPr>
        <p:txBody>
          <a:bodyPr wrap="square" lIns="0" tIns="0" rIns="0" bIns="0" rtlCol="0" anchor="ctr"/>
          <a:lstStyle/>
          <a:p>
            <a:pPr indent="0" marL="0">
              <a:lnSpc>
                <a:spcPct val="115000"/>
              </a:lnSpc>
              <a:buNone/>
            </a:pPr>
            <a:r>
              <a:rPr lang="en-US" sz="850" i="1" dirty="0">
                <a:solidFill>
                  <a:srgbClr val="6E6E6E"/>
                </a:solidFill>
                <a:latin typeface="Calibri" pitchFamily="34" charset="0"/>
                <a:ea typeface="Calibri" pitchFamily="34" charset="-122"/>
                <a:cs typeface="Calibri" pitchFamily="34" charset="-120"/>
              </a:rPr>
              <a:t>You've ridden with these drivers before</a:t>
            </a:r>
            <a:endParaRPr lang="en-US" sz="850" dirty="0"/>
          </a:p>
        </p:txBody>
      </p:sp>
      <p:sp>
        <p:nvSpPr>
          <p:cNvPr id="35" name="Text 33"/>
          <p:cNvSpPr/>
          <p:nvPr/>
        </p:nvSpPr>
        <p:spPr>
          <a:xfrm>
            <a:off x="7498080" y="5074920"/>
            <a:ext cx="2834640" cy="594360"/>
          </a:xfrm>
          <a:prstGeom prst="rect">
            <a:avLst/>
          </a:prstGeom>
          <a:noFill/>
          <a:ln/>
        </p:spPr>
        <p:txBody>
          <a:bodyPr wrap="square" lIns="0" tIns="0" rIns="0" bIns="0" rtlCol="0" anchor="ctr"/>
          <a:lstStyle/>
          <a:p>
            <a:pPr algn="ctr" indent="0" marL="0">
              <a:buNone/>
            </a:pPr>
            <a:r>
              <a:rPr lang="en-US" sz="950" i="1" dirty="0">
                <a:solidFill>
                  <a:srgbClr val="B0B0B0"/>
                </a:solidFill>
                <a:latin typeface="Calibri" pitchFamily="34" charset="0"/>
                <a:ea typeface="Calibri" pitchFamily="34" charset="-122"/>
                <a:cs typeface="Calibri" pitchFamily="34" charset="-120"/>
              </a:rPr>
              <a:t>Ride-matching screen, familiar drivers surfaced first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457200" y="256032"/>
            <a:ext cx="457200" cy="310896"/>
          </a:xfrm>
          <a:prstGeom prst="roundRect">
            <a:avLst>
              <a:gd name="adj" fmla="val 17647"/>
            </a:avLst>
          </a:prstGeom>
          <a:solidFill>
            <a:srgbClr val="1A1A1A"/>
          </a:solidFill>
          <a:ln/>
        </p:spPr>
      </p:sp>
      <p:sp>
        <p:nvSpPr>
          <p:cNvPr id="3" name="Text 1"/>
          <p:cNvSpPr/>
          <p:nvPr/>
        </p:nvSpPr>
        <p:spPr>
          <a:xfrm>
            <a:off x="457200" y="256032"/>
            <a:ext cx="457200" cy="310896"/>
          </a:xfrm>
          <a:prstGeom prst="rect">
            <a:avLst/>
          </a:prstGeom>
          <a:noFill/>
          <a:ln/>
        </p:spPr>
        <p:txBody>
          <a:bodyPr wrap="square" rtlCol="0" anchor="ctr"/>
          <a:lstStyle/>
          <a:p>
            <a:pPr algn="ctr" indent="0" marL="0">
              <a:buNone/>
            </a:pPr>
            <a:r>
              <a:rPr lang="en-US" sz="1400" b="1" dirty="0">
                <a:solidFill>
                  <a:srgbClr val="F5A623"/>
                </a:solidFill>
                <a:latin typeface="Arial" pitchFamily="34" charset="0"/>
                <a:ea typeface="Arial" pitchFamily="34" charset="-122"/>
                <a:cs typeface="Arial" pitchFamily="34" charset="-120"/>
              </a:rPr>
              <a:t>R</a:t>
            </a:r>
            <a:endParaRPr lang="en-US" sz="1400" dirty="0"/>
          </a:p>
        </p:txBody>
      </p:sp>
      <p:sp>
        <p:nvSpPr>
          <p:cNvPr id="4" name="Text 2"/>
          <p:cNvSpPr/>
          <p:nvPr/>
        </p:nvSpPr>
        <p:spPr>
          <a:xfrm>
            <a:off x="1097280" y="274320"/>
            <a:ext cx="969264"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OVERVIEW</a:t>
            </a:r>
            <a:endParaRPr lang="en-US" sz="1000" dirty="0"/>
          </a:p>
        </p:txBody>
      </p:sp>
      <p:sp>
        <p:nvSpPr>
          <p:cNvPr id="5" name="Text 3"/>
          <p:cNvSpPr/>
          <p:nvPr/>
        </p:nvSpPr>
        <p:spPr>
          <a:xfrm>
            <a:off x="2203704" y="274320"/>
            <a:ext cx="1751076"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PROBLEM STATEMENT</a:t>
            </a:r>
            <a:endParaRPr lang="en-US" sz="1000" dirty="0"/>
          </a:p>
        </p:txBody>
      </p:sp>
      <p:sp>
        <p:nvSpPr>
          <p:cNvPr id="6" name="Text 4"/>
          <p:cNvSpPr/>
          <p:nvPr/>
        </p:nvSpPr>
        <p:spPr>
          <a:xfrm>
            <a:off x="4091940" y="274320"/>
            <a:ext cx="1403604"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USER PERSONAS</a:t>
            </a:r>
            <a:endParaRPr lang="en-US" sz="1000" dirty="0"/>
          </a:p>
        </p:txBody>
      </p:sp>
      <p:sp>
        <p:nvSpPr>
          <p:cNvPr id="7" name="Text 5"/>
          <p:cNvSpPr/>
          <p:nvPr/>
        </p:nvSpPr>
        <p:spPr>
          <a:xfrm>
            <a:off x="5632704" y="274320"/>
            <a:ext cx="1056132"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SOLUTIONS</a:t>
            </a:r>
            <a:endParaRPr lang="en-US" sz="1000" dirty="0"/>
          </a:p>
        </p:txBody>
      </p:sp>
      <p:sp>
        <p:nvSpPr>
          <p:cNvPr id="8" name="Shape 6"/>
          <p:cNvSpPr/>
          <p:nvPr/>
        </p:nvSpPr>
        <p:spPr>
          <a:xfrm>
            <a:off x="6825996" y="274320"/>
            <a:ext cx="1490472" cy="274320"/>
          </a:xfrm>
          <a:prstGeom prst="roundRect">
            <a:avLst>
              <a:gd name="adj" fmla="val 50000"/>
            </a:avLst>
          </a:prstGeom>
          <a:solidFill>
            <a:srgbClr val="F5A623"/>
          </a:solidFill>
          <a:ln/>
        </p:spPr>
      </p:sp>
      <p:sp>
        <p:nvSpPr>
          <p:cNvPr id="9" name="Text 7"/>
          <p:cNvSpPr/>
          <p:nvPr/>
        </p:nvSpPr>
        <p:spPr>
          <a:xfrm>
            <a:off x="6825996" y="274320"/>
            <a:ext cx="1490472" cy="274320"/>
          </a:xfrm>
          <a:prstGeom prst="rect">
            <a:avLst/>
          </a:prstGeom>
          <a:noFill/>
          <a:ln/>
        </p:spPr>
        <p:txBody>
          <a:bodyPr wrap="square" lIns="0" tIns="0" rIns="0" bIns="0" rtlCol="0" anchor="ctr"/>
          <a:lstStyle/>
          <a:p>
            <a:pPr algn="ctr" indent="0" marL="0">
              <a:buNone/>
            </a:pPr>
            <a:r>
              <a:rPr lang="en-US" sz="1000" b="1" dirty="0">
                <a:solidFill>
                  <a:srgbClr val="1A1A00"/>
                </a:solidFill>
                <a:latin typeface="Calibri" pitchFamily="34" charset="0"/>
                <a:ea typeface="Calibri" pitchFamily="34" charset="-122"/>
                <a:cs typeface="Calibri" pitchFamily="34" charset="-120"/>
              </a:rPr>
              <a:t>PRIORITIZATION</a:t>
            </a:r>
            <a:endParaRPr lang="en-US" sz="1000" dirty="0"/>
          </a:p>
        </p:txBody>
      </p:sp>
      <p:sp>
        <p:nvSpPr>
          <p:cNvPr id="10" name="Text 8"/>
          <p:cNvSpPr/>
          <p:nvPr/>
        </p:nvSpPr>
        <p:spPr>
          <a:xfrm>
            <a:off x="8453628" y="274320"/>
            <a:ext cx="621792"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KPIs</a:t>
            </a:r>
            <a:endParaRPr lang="en-US" sz="1000" dirty="0"/>
          </a:p>
        </p:txBody>
      </p:sp>
      <p:sp>
        <p:nvSpPr>
          <p:cNvPr id="11" name="Text 9"/>
          <p:cNvSpPr/>
          <p:nvPr/>
        </p:nvSpPr>
        <p:spPr>
          <a:xfrm>
            <a:off x="457200" y="777240"/>
            <a:ext cx="112471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Prioritization: Effort-Impact matrix</a:t>
            </a:r>
            <a:endParaRPr lang="en-US" sz="3000" dirty="0"/>
          </a:p>
        </p:txBody>
      </p:sp>
      <p:sp>
        <p:nvSpPr>
          <p:cNvPr id="12" name="Text 10"/>
          <p:cNvSpPr/>
          <p:nvPr/>
        </p:nvSpPr>
        <p:spPr>
          <a:xfrm>
            <a:off x="457200" y="1417320"/>
            <a:ext cx="10972800" cy="320040"/>
          </a:xfrm>
          <a:prstGeom prst="rect">
            <a:avLst/>
          </a:prstGeom>
          <a:noFill/>
          <a:ln/>
        </p:spPr>
        <p:txBody>
          <a:bodyPr wrap="square" lIns="0" tIns="0" rIns="0" bIns="0" rtlCol="0" anchor="ctr"/>
          <a:lstStyle/>
          <a:p>
            <a:pPr indent="0" marL="0">
              <a:buNone/>
            </a:pPr>
            <a:r>
              <a:rPr lang="en-US" sz="1200" dirty="0">
                <a:solidFill>
                  <a:srgbClr val="B0B0B0"/>
                </a:solidFill>
                <a:latin typeface="Calibri" pitchFamily="34" charset="0"/>
                <a:ea typeface="Calibri" pitchFamily="34" charset="-122"/>
                <a:cs typeface="Calibri" pitchFamily="34" charset="-120"/>
              </a:rPr>
              <a:t>A simple 2x2 framework that compares potential impact against the effort required to implement each feature.</a:t>
            </a:r>
            <a:endParaRPr lang="en-US" sz="1200" dirty="0"/>
          </a:p>
        </p:txBody>
      </p:sp>
      <p:sp>
        <p:nvSpPr>
          <p:cNvPr id="13" name="Shape 11"/>
          <p:cNvSpPr/>
          <p:nvPr/>
        </p:nvSpPr>
        <p:spPr>
          <a:xfrm>
            <a:off x="640080" y="1965960"/>
            <a:ext cx="0" cy="4114800"/>
          </a:xfrm>
          <a:prstGeom prst="line">
            <a:avLst/>
          </a:prstGeom>
          <a:noFill/>
          <a:ln w="12700">
            <a:solidFill>
              <a:srgbClr val="6E6E6E"/>
            </a:solidFill>
            <a:prstDash val="solid"/>
          </a:ln>
        </p:spPr>
      </p:sp>
      <p:sp>
        <p:nvSpPr>
          <p:cNvPr id="14" name="Shape 12"/>
          <p:cNvSpPr/>
          <p:nvPr/>
        </p:nvSpPr>
        <p:spPr>
          <a:xfrm>
            <a:off x="640080" y="6080760"/>
            <a:ext cx="5486400" cy="0"/>
          </a:xfrm>
          <a:prstGeom prst="line">
            <a:avLst/>
          </a:prstGeom>
          <a:noFill/>
          <a:ln w="12700">
            <a:solidFill>
              <a:srgbClr val="6E6E6E"/>
            </a:solidFill>
            <a:prstDash val="solid"/>
          </a:ln>
        </p:spPr>
      </p:sp>
      <p:sp>
        <p:nvSpPr>
          <p:cNvPr id="15" name="Text 13"/>
          <p:cNvSpPr/>
          <p:nvPr/>
        </p:nvSpPr>
        <p:spPr>
          <a:xfrm rot="16200000">
            <a:off x="137160" y="3474720"/>
            <a:ext cx="457200" cy="1097280"/>
          </a:xfrm>
          <a:prstGeom prst="rect">
            <a:avLst/>
          </a:prstGeom>
          <a:noFill/>
          <a:ln/>
        </p:spPr>
        <p:txBody>
          <a:bodyPr wrap="square" lIns="0" tIns="0" rIns="0" bIns="0" rtlCol="0" anchor="ctr"/>
          <a:lstStyle/>
          <a:p>
            <a:pPr algn="ctr" indent="0" marL="0">
              <a:buNone/>
            </a:pPr>
            <a:r>
              <a:rPr lang="en-US" sz="1100" dirty="0">
                <a:solidFill>
                  <a:srgbClr val="B0B0B0"/>
                </a:solidFill>
                <a:latin typeface="Calibri" pitchFamily="34" charset="0"/>
                <a:ea typeface="Calibri" pitchFamily="34" charset="-122"/>
                <a:cs typeface="Calibri" pitchFamily="34" charset="-120"/>
              </a:rPr>
              <a:t>Impact</a:t>
            </a:r>
            <a:endParaRPr lang="en-US" sz="1100" dirty="0"/>
          </a:p>
        </p:txBody>
      </p:sp>
      <p:sp>
        <p:nvSpPr>
          <p:cNvPr id="16" name="Text 14"/>
          <p:cNvSpPr/>
          <p:nvPr/>
        </p:nvSpPr>
        <p:spPr>
          <a:xfrm>
            <a:off x="2926080" y="6217920"/>
            <a:ext cx="914400" cy="274320"/>
          </a:xfrm>
          <a:prstGeom prst="rect">
            <a:avLst/>
          </a:prstGeom>
          <a:noFill/>
          <a:ln/>
        </p:spPr>
        <p:txBody>
          <a:bodyPr wrap="square" lIns="0" tIns="0" rIns="0" bIns="0" rtlCol="0" anchor="ctr"/>
          <a:lstStyle/>
          <a:p>
            <a:pPr algn="ctr" indent="0" marL="0">
              <a:buNone/>
            </a:pPr>
            <a:r>
              <a:rPr lang="en-US" sz="1100" dirty="0">
                <a:solidFill>
                  <a:srgbClr val="B0B0B0"/>
                </a:solidFill>
                <a:latin typeface="Calibri" pitchFamily="34" charset="0"/>
                <a:ea typeface="Calibri" pitchFamily="34" charset="-122"/>
                <a:cs typeface="Calibri" pitchFamily="34" charset="-120"/>
              </a:rPr>
              <a:t>Effort</a:t>
            </a:r>
            <a:endParaRPr lang="en-US" sz="1100" dirty="0"/>
          </a:p>
        </p:txBody>
      </p:sp>
      <p:sp>
        <p:nvSpPr>
          <p:cNvPr id="17" name="Text 15"/>
          <p:cNvSpPr/>
          <p:nvPr/>
        </p:nvSpPr>
        <p:spPr>
          <a:xfrm>
            <a:off x="594360" y="6217920"/>
            <a:ext cx="548640" cy="228600"/>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Low</a:t>
            </a:r>
            <a:endParaRPr lang="en-US" sz="900" dirty="0"/>
          </a:p>
        </p:txBody>
      </p:sp>
      <p:sp>
        <p:nvSpPr>
          <p:cNvPr id="18" name="Text 16"/>
          <p:cNvSpPr/>
          <p:nvPr/>
        </p:nvSpPr>
        <p:spPr>
          <a:xfrm>
            <a:off x="5577840" y="6217920"/>
            <a:ext cx="548640" cy="228600"/>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High</a:t>
            </a:r>
            <a:endParaRPr lang="en-US" sz="900" dirty="0"/>
          </a:p>
        </p:txBody>
      </p:sp>
      <p:sp>
        <p:nvSpPr>
          <p:cNvPr id="19" name="Text 17"/>
          <p:cNvSpPr/>
          <p:nvPr/>
        </p:nvSpPr>
        <p:spPr>
          <a:xfrm>
            <a:off x="137160" y="1920240"/>
            <a:ext cx="457200" cy="228600"/>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High</a:t>
            </a:r>
            <a:endParaRPr lang="en-US" sz="900" dirty="0"/>
          </a:p>
        </p:txBody>
      </p:sp>
      <p:sp>
        <p:nvSpPr>
          <p:cNvPr id="20" name="Text 18"/>
          <p:cNvSpPr/>
          <p:nvPr/>
        </p:nvSpPr>
        <p:spPr>
          <a:xfrm>
            <a:off x="137160" y="5897880"/>
            <a:ext cx="457200" cy="228600"/>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Low</a:t>
            </a:r>
            <a:endParaRPr lang="en-US" sz="900" dirty="0"/>
          </a:p>
        </p:txBody>
      </p:sp>
      <p:sp>
        <p:nvSpPr>
          <p:cNvPr id="21" name="Shape 19"/>
          <p:cNvSpPr/>
          <p:nvPr/>
        </p:nvSpPr>
        <p:spPr>
          <a:xfrm>
            <a:off x="3383280" y="1965960"/>
            <a:ext cx="0" cy="4114800"/>
          </a:xfrm>
          <a:prstGeom prst="line">
            <a:avLst/>
          </a:prstGeom>
          <a:noFill/>
          <a:ln w="9525">
            <a:solidFill>
              <a:srgbClr val="2A2A2A"/>
            </a:solidFill>
            <a:prstDash val="dash"/>
          </a:ln>
        </p:spPr>
      </p:sp>
      <p:sp>
        <p:nvSpPr>
          <p:cNvPr id="22" name="Shape 20"/>
          <p:cNvSpPr/>
          <p:nvPr/>
        </p:nvSpPr>
        <p:spPr>
          <a:xfrm>
            <a:off x="640080" y="4023360"/>
            <a:ext cx="5486400" cy="0"/>
          </a:xfrm>
          <a:prstGeom prst="line">
            <a:avLst/>
          </a:prstGeom>
          <a:noFill/>
          <a:ln w="9525">
            <a:solidFill>
              <a:srgbClr val="2A2A2A"/>
            </a:solidFill>
            <a:prstDash val="dash"/>
          </a:ln>
        </p:spPr>
      </p:sp>
      <p:sp>
        <p:nvSpPr>
          <p:cNvPr id="23" name="Shape 21"/>
          <p:cNvSpPr/>
          <p:nvPr/>
        </p:nvSpPr>
        <p:spPr>
          <a:xfrm>
            <a:off x="914400" y="2240280"/>
            <a:ext cx="2011680" cy="1005840"/>
          </a:xfrm>
          <a:prstGeom prst="roundRect">
            <a:avLst>
              <a:gd name="adj" fmla="val 7273"/>
            </a:avLst>
          </a:prstGeom>
          <a:solidFill>
            <a:srgbClr val="1A1A1A"/>
          </a:solidFill>
          <a:ln w="12700">
            <a:solidFill>
              <a:srgbClr val="8A5A0F"/>
            </a:solidFill>
            <a:prstDash val="solid"/>
          </a:ln>
        </p:spPr>
      </p:sp>
      <p:sp>
        <p:nvSpPr>
          <p:cNvPr id="24" name="Text 22"/>
          <p:cNvSpPr/>
          <p:nvPr/>
        </p:nvSpPr>
        <p:spPr>
          <a:xfrm>
            <a:off x="1024128" y="2331720"/>
            <a:ext cx="1792224" cy="502920"/>
          </a:xfrm>
          <a:prstGeom prst="rect">
            <a:avLst/>
          </a:prstGeom>
          <a:noFill/>
          <a:ln/>
        </p:spPr>
        <p:txBody>
          <a:bodyPr wrap="square" lIns="0" tIns="0" rIns="0" bIns="0" rtlCol="0" anchor="ctr"/>
          <a:lstStyle/>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Smart Recall</a:t>
            </a:r>
            <a:endParaRPr lang="en-US" sz="1150" dirty="0"/>
          </a:p>
        </p:txBody>
      </p:sp>
      <p:sp>
        <p:nvSpPr>
          <p:cNvPr id="25" name="Text 23"/>
          <p:cNvSpPr/>
          <p:nvPr/>
        </p:nvSpPr>
        <p:spPr>
          <a:xfrm>
            <a:off x="1024128" y="2898648"/>
            <a:ext cx="1792224" cy="274320"/>
          </a:xfrm>
          <a:prstGeom prst="rect">
            <a:avLst/>
          </a:prstGeom>
          <a:noFill/>
          <a:ln/>
        </p:spPr>
        <p:txBody>
          <a:bodyPr wrap="square" lIns="0" tIns="0" rIns="0" bIns="0" rtlCol="0" anchor="ctr"/>
          <a:lstStyle/>
          <a:p>
            <a:pPr indent="0" marL="0">
              <a:buNone/>
            </a:pPr>
            <a:r>
              <a:rPr lang="en-US" sz="900" dirty="0">
                <a:solidFill>
                  <a:srgbClr val="F5A623"/>
                </a:solidFill>
                <a:latin typeface="Calibri" pitchFamily="34" charset="0"/>
                <a:ea typeface="Calibri" pitchFamily="34" charset="-122"/>
                <a:cs typeface="Calibri" pitchFamily="34" charset="-120"/>
              </a:rPr>
              <a:t>Quick win</a:t>
            </a:r>
            <a:endParaRPr lang="en-US" sz="900" dirty="0"/>
          </a:p>
        </p:txBody>
      </p:sp>
      <p:sp>
        <p:nvSpPr>
          <p:cNvPr id="26" name="Shape 24"/>
          <p:cNvSpPr/>
          <p:nvPr/>
        </p:nvSpPr>
        <p:spPr>
          <a:xfrm>
            <a:off x="3474720" y="2514600"/>
            <a:ext cx="2011680" cy="1005840"/>
          </a:xfrm>
          <a:prstGeom prst="roundRect">
            <a:avLst>
              <a:gd name="adj" fmla="val 7273"/>
            </a:avLst>
          </a:prstGeom>
          <a:solidFill>
            <a:srgbClr val="1A1A1A"/>
          </a:solidFill>
          <a:ln w="12700">
            <a:solidFill>
              <a:srgbClr val="8A5A0F"/>
            </a:solidFill>
            <a:prstDash val="solid"/>
          </a:ln>
        </p:spPr>
      </p:sp>
      <p:sp>
        <p:nvSpPr>
          <p:cNvPr id="27" name="Text 25"/>
          <p:cNvSpPr/>
          <p:nvPr/>
        </p:nvSpPr>
        <p:spPr>
          <a:xfrm>
            <a:off x="3584448" y="2606040"/>
            <a:ext cx="1792224" cy="502920"/>
          </a:xfrm>
          <a:prstGeom prst="rect">
            <a:avLst/>
          </a:prstGeom>
          <a:noFill/>
          <a:ln/>
        </p:spPr>
        <p:txBody>
          <a:bodyPr wrap="square" lIns="0" tIns="0" rIns="0" bIns="0" rtlCol="0" anchor="ctr"/>
          <a:lstStyle/>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RideStreak</a:t>
            </a:r>
            <a:endParaRPr lang="en-US" sz="1150" dirty="0"/>
          </a:p>
        </p:txBody>
      </p:sp>
      <p:sp>
        <p:nvSpPr>
          <p:cNvPr id="28" name="Text 26"/>
          <p:cNvSpPr/>
          <p:nvPr/>
        </p:nvSpPr>
        <p:spPr>
          <a:xfrm>
            <a:off x="3584448" y="3172968"/>
            <a:ext cx="1792224" cy="274320"/>
          </a:xfrm>
          <a:prstGeom prst="rect">
            <a:avLst/>
          </a:prstGeom>
          <a:noFill/>
          <a:ln/>
        </p:spPr>
        <p:txBody>
          <a:bodyPr wrap="square" lIns="0" tIns="0" rIns="0" bIns="0" rtlCol="0" anchor="ctr"/>
          <a:lstStyle/>
          <a:p>
            <a:pPr indent="0" marL="0">
              <a:buNone/>
            </a:pPr>
            <a:r>
              <a:rPr lang="en-US" sz="900" dirty="0">
                <a:solidFill>
                  <a:srgbClr val="F5A623"/>
                </a:solidFill>
                <a:latin typeface="Calibri" pitchFamily="34" charset="0"/>
                <a:ea typeface="Calibri" pitchFamily="34" charset="-122"/>
                <a:cs typeface="Calibri" pitchFamily="34" charset="-120"/>
              </a:rPr>
              <a:t>Major project</a:t>
            </a:r>
            <a:endParaRPr lang="en-US" sz="900" dirty="0"/>
          </a:p>
        </p:txBody>
      </p:sp>
      <p:sp>
        <p:nvSpPr>
          <p:cNvPr id="29" name="Shape 27"/>
          <p:cNvSpPr/>
          <p:nvPr/>
        </p:nvSpPr>
        <p:spPr>
          <a:xfrm>
            <a:off x="3931920" y="4617720"/>
            <a:ext cx="2011680" cy="1005840"/>
          </a:xfrm>
          <a:prstGeom prst="roundRect">
            <a:avLst>
              <a:gd name="adj" fmla="val 7273"/>
            </a:avLst>
          </a:prstGeom>
          <a:solidFill>
            <a:srgbClr val="1A1A1A"/>
          </a:solidFill>
          <a:ln w="12700">
            <a:solidFill>
              <a:srgbClr val="8A5A0F"/>
            </a:solidFill>
            <a:prstDash val="solid"/>
          </a:ln>
        </p:spPr>
      </p:sp>
      <p:sp>
        <p:nvSpPr>
          <p:cNvPr id="30" name="Text 28"/>
          <p:cNvSpPr/>
          <p:nvPr/>
        </p:nvSpPr>
        <p:spPr>
          <a:xfrm>
            <a:off x="4041648" y="4709160"/>
            <a:ext cx="1792224" cy="502920"/>
          </a:xfrm>
          <a:prstGeom prst="rect">
            <a:avLst/>
          </a:prstGeom>
          <a:noFill/>
          <a:ln/>
        </p:spPr>
        <p:txBody>
          <a:bodyPr wrap="square" lIns="0" tIns="0" rIns="0" bIns="0" rtlCol="0" anchor="ctr"/>
          <a:lstStyle/>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Driver Familiarity</a:t>
            </a:r>
            <a:endParaRPr lang="en-US" sz="1150" dirty="0"/>
          </a:p>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Match</a:t>
            </a:r>
            <a:endParaRPr lang="en-US" sz="1150" dirty="0"/>
          </a:p>
        </p:txBody>
      </p:sp>
      <p:sp>
        <p:nvSpPr>
          <p:cNvPr id="31" name="Text 29"/>
          <p:cNvSpPr/>
          <p:nvPr/>
        </p:nvSpPr>
        <p:spPr>
          <a:xfrm>
            <a:off x="4041648" y="5276088"/>
            <a:ext cx="1792224" cy="274320"/>
          </a:xfrm>
          <a:prstGeom prst="rect">
            <a:avLst/>
          </a:prstGeom>
          <a:noFill/>
          <a:ln/>
        </p:spPr>
        <p:txBody>
          <a:bodyPr wrap="square" lIns="0" tIns="0" rIns="0" bIns="0" rtlCol="0" anchor="ctr"/>
          <a:lstStyle/>
          <a:p>
            <a:pPr indent="0" marL="0">
              <a:buNone/>
            </a:pPr>
            <a:r>
              <a:rPr lang="en-US" sz="900" dirty="0">
                <a:solidFill>
                  <a:srgbClr val="F5A623"/>
                </a:solidFill>
                <a:latin typeface="Calibri" pitchFamily="34" charset="0"/>
                <a:ea typeface="Calibri" pitchFamily="34" charset="-122"/>
                <a:cs typeface="Calibri" pitchFamily="34" charset="-120"/>
              </a:rPr>
              <a:t>Long-term bet</a:t>
            </a:r>
            <a:endParaRPr lang="en-US" sz="900" dirty="0"/>
          </a:p>
        </p:txBody>
      </p:sp>
      <p:sp>
        <p:nvSpPr>
          <p:cNvPr id="32" name="Shape 30"/>
          <p:cNvSpPr/>
          <p:nvPr/>
        </p:nvSpPr>
        <p:spPr>
          <a:xfrm>
            <a:off x="6446520" y="1965960"/>
            <a:ext cx="5257800" cy="4114800"/>
          </a:xfrm>
          <a:prstGeom prst="roundRect">
            <a:avLst>
              <a:gd name="adj" fmla="val 1778"/>
            </a:avLst>
          </a:prstGeom>
          <a:solidFill>
            <a:srgbClr val="1A1A1A"/>
          </a:solidFill>
          <a:ln/>
        </p:spPr>
      </p:sp>
      <p:sp>
        <p:nvSpPr>
          <p:cNvPr id="33" name="Text 31"/>
          <p:cNvSpPr/>
          <p:nvPr/>
        </p:nvSpPr>
        <p:spPr>
          <a:xfrm>
            <a:off x="6675120" y="2148840"/>
            <a:ext cx="4754880" cy="320040"/>
          </a:xfrm>
          <a:prstGeom prst="rect">
            <a:avLst/>
          </a:prstGeom>
          <a:noFill/>
          <a:ln/>
        </p:spPr>
        <p:txBody>
          <a:bodyPr wrap="square" lIns="0" tIns="0" rIns="0" bIns="0" rtlCol="0" anchor="ctr"/>
          <a:lstStyle/>
          <a:p>
            <a:pPr indent="0" marL="0">
              <a:buNone/>
            </a:pPr>
            <a:r>
              <a:rPr lang="en-US" sz="1600" b="1" dirty="0">
                <a:solidFill>
                  <a:srgbClr val="F5A623"/>
                </a:solidFill>
                <a:latin typeface="Cambria" pitchFamily="34" charset="0"/>
                <a:ea typeface="Cambria" pitchFamily="34" charset="-122"/>
                <a:cs typeface="Cambria" pitchFamily="34" charset="-120"/>
              </a:rPr>
              <a:t>Summary</a:t>
            </a:r>
            <a:endParaRPr lang="en-US" sz="1600" dirty="0"/>
          </a:p>
        </p:txBody>
      </p:sp>
      <p:sp>
        <p:nvSpPr>
          <p:cNvPr id="34" name="Text 32"/>
          <p:cNvSpPr/>
          <p:nvPr/>
        </p:nvSpPr>
        <p:spPr>
          <a:xfrm>
            <a:off x="6675120" y="2606040"/>
            <a:ext cx="475488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1. Smart Recall — quick win</a:t>
            </a:r>
            <a:endParaRPr lang="en-US" sz="1250" dirty="0"/>
          </a:p>
        </p:txBody>
      </p:sp>
      <p:sp>
        <p:nvSpPr>
          <p:cNvPr id="35" name="Text 33"/>
          <p:cNvSpPr/>
          <p:nvPr/>
        </p:nvSpPr>
        <p:spPr>
          <a:xfrm>
            <a:off x="6675120" y="2898648"/>
            <a:ext cx="4754880" cy="640080"/>
          </a:xfrm>
          <a:prstGeom prst="rect">
            <a:avLst/>
          </a:prstGeom>
          <a:noFill/>
          <a:ln/>
        </p:spPr>
        <p:txBody>
          <a:bodyPr wrap="square" lIns="0" tIns="0" rIns="0" bIns="0" rtlCol="0" anchor="ctr"/>
          <a:lstStyle/>
          <a:p>
            <a:pPr indent="0" marL="0">
              <a:lnSpc>
                <a:spcPct val="120000"/>
              </a:lnSpc>
              <a:buNone/>
            </a:pPr>
            <a:r>
              <a:rPr lang="en-US" sz="1050" dirty="0">
                <a:solidFill>
                  <a:srgbClr val="B0B0B0"/>
                </a:solidFill>
                <a:latin typeface="Calibri" pitchFamily="34" charset="0"/>
                <a:ea typeface="Calibri" pitchFamily="34" charset="-122"/>
                <a:cs typeface="Calibri" pitchFamily="34" charset="-120"/>
              </a:rPr>
              <a:t>Low effort: reuses existing trip-history data. High impact: removes app-comparison friction.</a:t>
            </a:r>
            <a:endParaRPr lang="en-US" sz="1050" dirty="0"/>
          </a:p>
        </p:txBody>
      </p:sp>
      <p:sp>
        <p:nvSpPr>
          <p:cNvPr id="36" name="Text 34"/>
          <p:cNvSpPr/>
          <p:nvPr/>
        </p:nvSpPr>
        <p:spPr>
          <a:xfrm>
            <a:off x="6675120" y="3657600"/>
            <a:ext cx="475488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2. RideStreak — major project</a:t>
            </a:r>
            <a:endParaRPr lang="en-US" sz="1250" dirty="0"/>
          </a:p>
        </p:txBody>
      </p:sp>
      <p:sp>
        <p:nvSpPr>
          <p:cNvPr id="37" name="Text 35"/>
          <p:cNvSpPr/>
          <p:nvPr/>
        </p:nvSpPr>
        <p:spPr>
          <a:xfrm>
            <a:off x="6675120" y="3950208"/>
            <a:ext cx="4754880" cy="640080"/>
          </a:xfrm>
          <a:prstGeom prst="rect">
            <a:avLst/>
          </a:prstGeom>
          <a:noFill/>
          <a:ln/>
        </p:spPr>
        <p:txBody>
          <a:bodyPr wrap="square" lIns="0" tIns="0" rIns="0" bIns="0" rtlCol="0" anchor="ctr"/>
          <a:lstStyle/>
          <a:p>
            <a:pPr indent="0" marL="0">
              <a:lnSpc>
                <a:spcPct val="120000"/>
              </a:lnSpc>
              <a:buNone/>
            </a:pPr>
            <a:r>
              <a:rPr lang="en-US" sz="1050" dirty="0">
                <a:solidFill>
                  <a:srgbClr val="B0B0B0"/>
                </a:solidFill>
                <a:latin typeface="Calibri" pitchFamily="34" charset="0"/>
                <a:ea typeface="Calibri" pitchFamily="34" charset="-122"/>
                <a:cs typeface="Calibri" pitchFamily="34" charset="-120"/>
              </a:rPr>
              <a:t>Medium effort: needs a rewards/perks system. High impact: builds long-term habit loop.</a:t>
            </a:r>
            <a:endParaRPr lang="en-US" sz="1050" dirty="0"/>
          </a:p>
        </p:txBody>
      </p:sp>
      <p:sp>
        <p:nvSpPr>
          <p:cNvPr id="38" name="Text 36"/>
          <p:cNvSpPr/>
          <p:nvPr/>
        </p:nvSpPr>
        <p:spPr>
          <a:xfrm>
            <a:off x="6675120" y="4709160"/>
            <a:ext cx="475488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3. Driver Familiarity Match — long-term bet</a:t>
            </a:r>
            <a:endParaRPr lang="en-US" sz="1250" dirty="0"/>
          </a:p>
        </p:txBody>
      </p:sp>
      <p:sp>
        <p:nvSpPr>
          <p:cNvPr id="39" name="Text 37"/>
          <p:cNvSpPr/>
          <p:nvPr/>
        </p:nvSpPr>
        <p:spPr>
          <a:xfrm>
            <a:off x="6675120" y="5001768"/>
            <a:ext cx="4754880" cy="640080"/>
          </a:xfrm>
          <a:prstGeom prst="rect">
            <a:avLst/>
          </a:prstGeom>
          <a:noFill/>
          <a:ln/>
        </p:spPr>
        <p:txBody>
          <a:bodyPr wrap="square" lIns="0" tIns="0" rIns="0" bIns="0" rtlCol="0" anchor="ctr"/>
          <a:lstStyle/>
          <a:p>
            <a:pPr indent="0" marL="0">
              <a:lnSpc>
                <a:spcPct val="120000"/>
              </a:lnSpc>
              <a:buNone/>
            </a:pPr>
            <a:r>
              <a:rPr lang="en-US" sz="1050" dirty="0">
                <a:solidFill>
                  <a:srgbClr val="B0B0B0"/>
                </a:solidFill>
                <a:latin typeface="Calibri" pitchFamily="34" charset="0"/>
                <a:ea typeface="Calibri" pitchFamily="34" charset="-122"/>
                <a:cs typeface="Calibri" pitchFamily="34" charset="-120"/>
              </a:rPr>
              <a:t>Higher effort: driver-side matching logic. Medium-high impact: solves trust/quality gap.</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457200" y="256032"/>
            <a:ext cx="457200" cy="310896"/>
          </a:xfrm>
          <a:prstGeom prst="roundRect">
            <a:avLst>
              <a:gd name="adj" fmla="val 17647"/>
            </a:avLst>
          </a:prstGeom>
          <a:solidFill>
            <a:srgbClr val="1A1A1A"/>
          </a:solidFill>
          <a:ln/>
        </p:spPr>
      </p:sp>
      <p:sp>
        <p:nvSpPr>
          <p:cNvPr id="3" name="Text 1"/>
          <p:cNvSpPr/>
          <p:nvPr/>
        </p:nvSpPr>
        <p:spPr>
          <a:xfrm>
            <a:off x="457200" y="256032"/>
            <a:ext cx="457200" cy="310896"/>
          </a:xfrm>
          <a:prstGeom prst="rect">
            <a:avLst/>
          </a:prstGeom>
          <a:noFill/>
          <a:ln/>
        </p:spPr>
        <p:txBody>
          <a:bodyPr wrap="square" rtlCol="0" anchor="ctr"/>
          <a:lstStyle/>
          <a:p>
            <a:pPr algn="ctr" indent="0" marL="0">
              <a:buNone/>
            </a:pPr>
            <a:r>
              <a:rPr lang="en-US" sz="1400" b="1" dirty="0">
                <a:solidFill>
                  <a:srgbClr val="F5A623"/>
                </a:solidFill>
                <a:latin typeface="Arial" pitchFamily="34" charset="0"/>
                <a:ea typeface="Arial" pitchFamily="34" charset="-122"/>
                <a:cs typeface="Arial" pitchFamily="34" charset="-120"/>
              </a:rPr>
              <a:t>R</a:t>
            </a:r>
            <a:endParaRPr lang="en-US" sz="1400" dirty="0"/>
          </a:p>
        </p:txBody>
      </p:sp>
      <p:sp>
        <p:nvSpPr>
          <p:cNvPr id="4" name="Text 2"/>
          <p:cNvSpPr/>
          <p:nvPr/>
        </p:nvSpPr>
        <p:spPr>
          <a:xfrm>
            <a:off x="1097280" y="274320"/>
            <a:ext cx="969264"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OVERVIEW</a:t>
            </a:r>
            <a:endParaRPr lang="en-US" sz="1000" dirty="0"/>
          </a:p>
        </p:txBody>
      </p:sp>
      <p:sp>
        <p:nvSpPr>
          <p:cNvPr id="5" name="Text 3"/>
          <p:cNvSpPr/>
          <p:nvPr/>
        </p:nvSpPr>
        <p:spPr>
          <a:xfrm>
            <a:off x="2203704" y="274320"/>
            <a:ext cx="1751076"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PROBLEM STATEMENT</a:t>
            </a:r>
            <a:endParaRPr lang="en-US" sz="1000" dirty="0"/>
          </a:p>
        </p:txBody>
      </p:sp>
      <p:sp>
        <p:nvSpPr>
          <p:cNvPr id="6" name="Text 4"/>
          <p:cNvSpPr/>
          <p:nvPr/>
        </p:nvSpPr>
        <p:spPr>
          <a:xfrm>
            <a:off x="4091940" y="274320"/>
            <a:ext cx="1403604"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USER PERSONAS</a:t>
            </a:r>
            <a:endParaRPr lang="en-US" sz="1000" dirty="0"/>
          </a:p>
        </p:txBody>
      </p:sp>
      <p:sp>
        <p:nvSpPr>
          <p:cNvPr id="7" name="Text 5"/>
          <p:cNvSpPr/>
          <p:nvPr/>
        </p:nvSpPr>
        <p:spPr>
          <a:xfrm>
            <a:off x="5632704" y="274320"/>
            <a:ext cx="1056132"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SOLUTIONS</a:t>
            </a:r>
            <a:endParaRPr lang="en-US" sz="1000" dirty="0"/>
          </a:p>
        </p:txBody>
      </p:sp>
      <p:sp>
        <p:nvSpPr>
          <p:cNvPr id="8" name="Shape 6"/>
          <p:cNvSpPr/>
          <p:nvPr/>
        </p:nvSpPr>
        <p:spPr>
          <a:xfrm>
            <a:off x="6825996" y="274320"/>
            <a:ext cx="1490472" cy="274320"/>
          </a:xfrm>
          <a:prstGeom prst="roundRect">
            <a:avLst>
              <a:gd name="adj" fmla="val 50000"/>
            </a:avLst>
          </a:prstGeom>
          <a:solidFill>
            <a:srgbClr val="F5A623"/>
          </a:solidFill>
          <a:ln/>
        </p:spPr>
      </p:sp>
      <p:sp>
        <p:nvSpPr>
          <p:cNvPr id="9" name="Text 7"/>
          <p:cNvSpPr/>
          <p:nvPr/>
        </p:nvSpPr>
        <p:spPr>
          <a:xfrm>
            <a:off x="6825996" y="274320"/>
            <a:ext cx="1490472" cy="274320"/>
          </a:xfrm>
          <a:prstGeom prst="rect">
            <a:avLst/>
          </a:prstGeom>
          <a:noFill/>
          <a:ln/>
        </p:spPr>
        <p:txBody>
          <a:bodyPr wrap="square" lIns="0" tIns="0" rIns="0" bIns="0" rtlCol="0" anchor="ctr"/>
          <a:lstStyle/>
          <a:p>
            <a:pPr algn="ctr" indent="0" marL="0">
              <a:buNone/>
            </a:pPr>
            <a:r>
              <a:rPr lang="en-US" sz="1000" b="1" dirty="0">
                <a:solidFill>
                  <a:srgbClr val="1A1A00"/>
                </a:solidFill>
                <a:latin typeface="Calibri" pitchFamily="34" charset="0"/>
                <a:ea typeface="Calibri" pitchFamily="34" charset="-122"/>
                <a:cs typeface="Calibri" pitchFamily="34" charset="-120"/>
              </a:rPr>
              <a:t>PRIORITIZATION</a:t>
            </a:r>
            <a:endParaRPr lang="en-US" sz="1000" dirty="0"/>
          </a:p>
        </p:txBody>
      </p:sp>
      <p:sp>
        <p:nvSpPr>
          <p:cNvPr id="10" name="Text 8"/>
          <p:cNvSpPr/>
          <p:nvPr/>
        </p:nvSpPr>
        <p:spPr>
          <a:xfrm>
            <a:off x="8453628" y="274320"/>
            <a:ext cx="621792"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KPIs</a:t>
            </a:r>
            <a:endParaRPr lang="en-US" sz="1000" dirty="0"/>
          </a:p>
        </p:txBody>
      </p:sp>
      <p:sp>
        <p:nvSpPr>
          <p:cNvPr id="11" name="Text 9"/>
          <p:cNvSpPr/>
          <p:nvPr/>
        </p:nvSpPr>
        <p:spPr>
          <a:xfrm>
            <a:off x="457200" y="777240"/>
            <a:ext cx="112471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Prioritization: RICE framework</a:t>
            </a:r>
            <a:endParaRPr lang="en-US" sz="3000" dirty="0"/>
          </a:p>
        </p:txBody>
      </p:sp>
      <p:sp>
        <p:nvSpPr>
          <p:cNvPr id="12" name="Text 10"/>
          <p:cNvSpPr/>
          <p:nvPr/>
        </p:nvSpPr>
        <p:spPr>
          <a:xfrm>
            <a:off x="457200" y="1417320"/>
            <a:ext cx="7315200" cy="320040"/>
          </a:xfrm>
          <a:prstGeom prst="rect">
            <a:avLst/>
          </a:prstGeom>
          <a:noFill/>
          <a:ln/>
        </p:spPr>
        <p:txBody>
          <a:bodyPr wrap="square" lIns="0" tIns="0" rIns="0" bIns="0" rtlCol="0" anchor="ctr"/>
          <a:lstStyle/>
          <a:p>
            <a:pPr indent="0" marL="0">
              <a:buNone/>
            </a:pPr>
            <a:r>
              <a:rPr lang="en-US" sz="1200" dirty="0">
                <a:solidFill>
                  <a:srgbClr val="B0B0B0"/>
                </a:solidFill>
                <a:latin typeface="Calibri" pitchFamily="34" charset="0"/>
                <a:ea typeface="Calibri" pitchFamily="34" charset="-122"/>
                <a:cs typeface="Calibri" pitchFamily="34" charset="-120"/>
              </a:rPr>
              <a:t>Scores each idea on Reach, Impact, Confidence, and Effort to decide what to build first.</a:t>
            </a:r>
            <a:endParaRPr lang="en-US" sz="1200" dirty="0"/>
          </a:p>
        </p:txBody>
      </p:sp>
      <p:sp>
        <p:nvSpPr>
          <p:cNvPr id="13" name="Text 11"/>
          <p:cNvSpPr/>
          <p:nvPr/>
        </p:nvSpPr>
        <p:spPr>
          <a:xfrm>
            <a:off x="7955280" y="1463040"/>
            <a:ext cx="3749040" cy="274320"/>
          </a:xfrm>
          <a:prstGeom prst="rect">
            <a:avLst/>
          </a:prstGeom>
          <a:noFill/>
          <a:ln/>
        </p:spPr>
        <p:txBody>
          <a:bodyPr wrap="square" lIns="0" tIns="0" rIns="0" bIns="0" rtlCol="0" anchor="ctr"/>
          <a:lstStyle/>
          <a:p>
            <a:pPr algn="r" indent="0" marL="0">
              <a:buNone/>
            </a:pPr>
            <a:r>
              <a:rPr lang="en-US" sz="1050" i="1" dirty="0">
                <a:solidFill>
                  <a:srgbClr val="F5A623"/>
                </a:solidFill>
                <a:latin typeface="Calibri" pitchFamily="34" charset="0"/>
                <a:ea typeface="Calibri" pitchFamily="34" charset="-122"/>
                <a:cs typeface="Calibri" pitchFamily="34" charset="-120"/>
              </a:rPr>
              <a:t>RICE = (Reach x Impact x Confidence) / Effort</a:t>
            </a:r>
            <a:endParaRPr lang="en-US" sz="1050" dirty="0"/>
          </a:p>
        </p:txBody>
      </p:sp>
      <p:sp>
        <p:nvSpPr>
          <p:cNvPr id="14" name="Shape 12"/>
          <p:cNvSpPr/>
          <p:nvPr/>
        </p:nvSpPr>
        <p:spPr>
          <a:xfrm>
            <a:off x="457200" y="2103120"/>
            <a:ext cx="3291840" cy="502920"/>
          </a:xfrm>
          <a:prstGeom prst="rect">
            <a:avLst/>
          </a:prstGeom>
          <a:solidFill>
            <a:srgbClr val="F5A623"/>
          </a:solidFill>
          <a:ln w="6350">
            <a:solidFill>
              <a:srgbClr val="0D0D0D"/>
            </a:solidFill>
            <a:prstDash val="solid"/>
          </a:ln>
        </p:spPr>
      </p:sp>
      <p:sp>
        <p:nvSpPr>
          <p:cNvPr id="15" name="Text 13"/>
          <p:cNvSpPr/>
          <p:nvPr/>
        </p:nvSpPr>
        <p:spPr>
          <a:xfrm>
            <a:off x="457200" y="2103120"/>
            <a:ext cx="3291840" cy="502920"/>
          </a:xfrm>
          <a:prstGeom prst="rect">
            <a:avLst/>
          </a:prstGeom>
          <a:noFill/>
          <a:ln/>
        </p:spPr>
        <p:txBody>
          <a:bodyPr wrap="square" lIns="0" tIns="101600" rIns="0" bIns="0" rtlCol="0" anchor="ctr"/>
          <a:lstStyle/>
          <a:p>
            <a:pPr algn="l" indent="0" marL="0">
              <a:buNone/>
            </a:pPr>
            <a:r>
              <a:rPr lang="en-US" sz="1150" b="1" dirty="0">
                <a:solidFill>
                  <a:srgbClr val="1A1A00"/>
                </a:solidFill>
                <a:latin typeface="Calibri" pitchFamily="34" charset="0"/>
                <a:ea typeface="Calibri" pitchFamily="34" charset="-122"/>
                <a:cs typeface="Calibri" pitchFamily="34" charset="-120"/>
              </a:rPr>
              <a:t>Feature</a:t>
            </a:r>
            <a:endParaRPr lang="en-US" sz="1150" dirty="0"/>
          </a:p>
        </p:txBody>
      </p:sp>
      <p:sp>
        <p:nvSpPr>
          <p:cNvPr id="16" name="Shape 14"/>
          <p:cNvSpPr/>
          <p:nvPr/>
        </p:nvSpPr>
        <p:spPr>
          <a:xfrm>
            <a:off x="3749040" y="2103120"/>
            <a:ext cx="1280160" cy="502920"/>
          </a:xfrm>
          <a:prstGeom prst="rect">
            <a:avLst/>
          </a:prstGeom>
          <a:solidFill>
            <a:srgbClr val="F5A623"/>
          </a:solidFill>
          <a:ln w="6350">
            <a:solidFill>
              <a:srgbClr val="0D0D0D"/>
            </a:solidFill>
            <a:prstDash val="solid"/>
          </a:ln>
        </p:spPr>
      </p:sp>
      <p:sp>
        <p:nvSpPr>
          <p:cNvPr id="17" name="Text 15"/>
          <p:cNvSpPr/>
          <p:nvPr/>
        </p:nvSpPr>
        <p:spPr>
          <a:xfrm>
            <a:off x="3749040" y="2103120"/>
            <a:ext cx="1280160" cy="502920"/>
          </a:xfrm>
          <a:prstGeom prst="rect">
            <a:avLst/>
          </a:prstGeom>
          <a:noFill/>
          <a:ln/>
        </p:spPr>
        <p:txBody>
          <a:bodyPr wrap="square" lIns="0" tIns="0" rIns="0" bIns="0" rtlCol="0" anchor="ctr"/>
          <a:lstStyle/>
          <a:p>
            <a:pPr algn="ctr" indent="0" marL="0">
              <a:buNone/>
            </a:pPr>
            <a:r>
              <a:rPr lang="en-US" sz="1150" b="1" dirty="0">
                <a:solidFill>
                  <a:srgbClr val="1A1A00"/>
                </a:solidFill>
                <a:latin typeface="Calibri" pitchFamily="34" charset="0"/>
                <a:ea typeface="Calibri" pitchFamily="34" charset="-122"/>
                <a:cs typeface="Calibri" pitchFamily="34" charset="-120"/>
              </a:rPr>
              <a:t>Reach</a:t>
            </a:r>
            <a:endParaRPr lang="en-US" sz="1150" dirty="0"/>
          </a:p>
        </p:txBody>
      </p:sp>
      <p:sp>
        <p:nvSpPr>
          <p:cNvPr id="18" name="Shape 16"/>
          <p:cNvSpPr/>
          <p:nvPr/>
        </p:nvSpPr>
        <p:spPr>
          <a:xfrm>
            <a:off x="5029200" y="2103120"/>
            <a:ext cx="1280160" cy="502920"/>
          </a:xfrm>
          <a:prstGeom prst="rect">
            <a:avLst/>
          </a:prstGeom>
          <a:solidFill>
            <a:srgbClr val="F5A623"/>
          </a:solidFill>
          <a:ln w="6350">
            <a:solidFill>
              <a:srgbClr val="0D0D0D"/>
            </a:solidFill>
            <a:prstDash val="solid"/>
          </a:ln>
        </p:spPr>
      </p:sp>
      <p:sp>
        <p:nvSpPr>
          <p:cNvPr id="19" name="Text 17"/>
          <p:cNvSpPr/>
          <p:nvPr/>
        </p:nvSpPr>
        <p:spPr>
          <a:xfrm>
            <a:off x="5029200" y="2103120"/>
            <a:ext cx="1280160" cy="502920"/>
          </a:xfrm>
          <a:prstGeom prst="rect">
            <a:avLst/>
          </a:prstGeom>
          <a:noFill/>
          <a:ln/>
        </p:spPr>
        <p:txBody>
          <a:bodyPr wrap="square" lIns="0" tIns="0" rIns="0" bIns="0" rtlCol="0" anchor="ctr"/>
          <a:lstStyle/>
          <a:p>
            <a:pPr algn="ctr" indent="0" marL="0">
              <a:buNone/>
            </a:pPr>
            <a:r>
              <a:rPr lang="en-US" sz="1150" b="1" dirty="0">
                <a:solidFill>
                  <a:srgbClr val="1A1A00"/>
                </a:solidFill>
                <a:latin typeface="Calibri" pitchFamily="34" charset="0"/>
                <a:ea typeface="Calibri" pitchFamily="34" charset="-122"/>
                <a:cs typeface="Calibri" pitchFamily="34" charset="-120"/>
              </a:rPr>
              <a:t>Impact</a:t>
            </a:r>
            <a:endParaRPr lang="en-US" sz="1150" dirty="0"/>
          </a:p>
        </p:txBody>
      </p:sp>
      <p:sp>
        <p:nvSpPr>
          <p:cNvPr id="20" name="Shape 18"/>
          <p:cNvSpPr/>
          <p:nvPr/>
        </p:nvSpPr>
        <p:spPr>
          <a:xfrm>
            <a:off x="6309360" y="2103120"/>
            <a:ext cx="1280160" cy="502920"/>
          </a:xfrm>
          <a:prstGeom prst="rect">
            <a:avLst/>
          </a:prstGeom>
          <a:solidFill>
            <a:srgbClr val="F5A623"/>
          </a:solidFill>
          <a:ln w="6350">
            <a:solidFill>
              <a:srgbClr val="0D0D0D"/>
            </a:solidFill>
            <a:prstDash val="solid"/>
          </a:ln>
        </p:spPr>
      </p:sp>
      <p:sp>
        <p:nvSpPr>
          <p:cNvPr id="21" name="Text 19"/>
          <p:cNvSpPr/>
          <p:nvPr/>
        </p:nvSpPr>
        <p:spPr>
          <a:xfrm>
            <a:off x="6309360" y="2103120"/>
            <a:ext cx="1280160" cy="502920"/>
          </a:xfrm>
          <a:prstGeom prst="rect">
            <a:avLst/>
          </a:prstGeom>
          <a:noFill/>
          <a:ln/>
        </p:spPr>
        <p:txBody>
          <a:bodyPr wrap="square" lIns="0" tIns="0" rIns="0" bIns="0" rtlCol="0" anchor="ctr"/>
          <a:lstStyle/>
          <a:p>
            <a:pPr algn="ctr" indent="0" marL="0">
              <a:buNone/>
            </a:pPr>
            <a:r>
              <a:rPr lang="en-US" sz="1150" b="1" dirty="0">
                <a:solidFill>
                  <a:srgbClr val="1A1A00"/>
                </a:solidFill>
                <a:latin typeface="Calibri" pitchFamily="34" charset="0"/>
                <a:ea typeface="Calibri" pitchFamily="34" charset="-122"/>
                <a:cs typeface="Calibri" pitchFamily="34" charset="-120"/>
              </a:rPr>
              <a:t>Confid.</a:t>
            </a:r>
            <a:endParaRPr lang="en-US" sz="1150" dirty="0"/>
          </a:p>
        </p:txBody>
      </p:sp>
      <p:sp>
        <p:nvSpPr>
          <p:cNvPr id="22" name="Shape 20"/>
          <p:cNvSpPr/>
          <p:nvPr/>
        </p:nvSpPr>
        <p:spPr>
          <a:xfrm>
            <a:off x="7589520" y="2103120"/>
            <a:ext cx="1280160" cy="502920"/>
          </a:xfrm>
          <a:prstGeom prst="rect">
            <a:avLst/>
          </a:prstGeom>
          <a:solidFill>
            <a:srgbClr val="F5A623"/>
          </a:solidFill>
          <a:ln w="6350">
            <a:solidFill>
              <a:srgbClr val="0D0D0D"/>
            </a:solidFill>
            <a:prstDash val="solid"/>
          </a:ln>
        </p:spPr>
      </p:sp>
      <p:sp>
        <p:nvSpPr>
          <p:cNvPr id="23" name="Text 21"/>
          <p:cNvSpPr/>
          <p:nvPr/>
        </p:nvSpPr>
        <p:spPr>
          <a:xfrm>
            <a:off x="7589520" y="2103120"/>
            <a:ext cx="1280160" cy="502920"/>
          </a:xfrm>
          <a:prstGeom prst="rect">
            <a:avLst/>
          </a:prstGeom>
          <a:noFill/>
          <a:ln/>
        </p:spPr>
        <p:txBody>
          <a:bodyPr wrap="square" lIns="0" tIns="0" rIns="0" bIns="0" rtlCol="0" anchor="ctr"/>
          <a:lstStyle/>
          <a:p>
            <a:pPr algn="ctr" indent="0" marL="0">
              <a:buNone/>
            </a:pPr>
            <a:r>
              <a:rPr lang="en-US" sz="1150" b="1" dirty="0">
                <a:solidFill>
                  <a:srgbClr val="1A1A00"/>
                </a:solidFill>
                <a:latin typeface="Calibri" pitchFamily="34" charset="0"/>
                <a:ea typeface="Calibri" pitchFamily="34" charset="-122"/>
                <a:cs typeface="Calibri" pitchFamily="34" charset="-120"/>
              </a:rPr>
              <a:t>Effort</a:t>
            </a:r>
            <a:endParaRPr lang="en-US" sz="1150" dirty="0"/>
          </a:p>
        </p:txBody>
      </p:sp>
      <p:sp>
        <p:nvSpPr>
          <p:cNvPr id="24" name="Shape 22"/>
          <p:cNvSpPr/>
          <p:nvPr/>
        </p:nvSpPr>
        <p:spPr>
          <a:xfrm>
            <a:off x="8869680" y="2103120"/>
            <a:ext cx="1280160" cy="502920"/>
          </a:xfrm>
          <a:prstGeom prst="rect">
            <a:avLst/>
          </a:prstGeom>
          <a:solidFill>
            <a:srgbClr val="F5A623"/>
          </a:solidFill>
          <a:ln w="6350">
            <a:solidFill>
              <a:srgbClr val="0D0D0D"/>
            </a:solidFill>
            <a:prstDash val="solid"/>
          </a:ln>
        </p:spPr>
      </p:sp>
      <p:sp>
        <p:nvSpPr>
          <p:cNvPr id="25" name="Text 23"/>
          <p:cNvSpPr/>
          <p:nvPr/>
        </p:nvSpPr>
        <p:spPr>
          <a:xfrm>
            <a:off x="8869680" y="2103120"/>
            <a:ext cx="1280160" cy="502920"/>
          </a:xfrm>
          <a:prstGeom prst="rect">
            <a:avLst/>
          </a:prstGeom>
          <a:noFill/>
          <a:ln/>
        </p:spPr>
        <p:txBody>
          <a:bodyPr wrap="square" lIns="0" tIns="0" rIns="0" bIns="0" rtlCol="0" anchor="ctr"/>
          <a:lstStyle/>
          <a:p>
            <a:pPr algn="ctr" indent="0" marL="0">
              <a:buNone/>
            </a:pPr>
            <a:r>
              <a:rPr lang="en-US" sz="1150" b="1" dirty="0">
                <a:solidFill>
                  <a:srgbClr val="1A1A00"/>
                </a:solidFill>
                <a:latin typeface="Calibri" pitchFamily="34" charset="0"/>
                <a:ea typeface="Calibri" pitchFamily="34" charset="-122"/>
                <a:cs typeface="Calibri" pitchFamily="34" charset="-120"/>
              </a:rPr>
              <a:t>RICE</a:t>
            </a:r>
            <a:endParaRPr lang="en-US" sz="1150" dirty="0"/>
          </a:p>
        </p:txBody>
      </p:sp>
      <p:sp>
        <p:nvSpPr>
          <p:cNvPr id="26" name="Shape 24"/>
          <p:cNvSpPr/>
          <p:nvPr/>
        </p:nvSpPr>
        <p:spPr>
          <a:xfrm>
            <a:off x="457200" y="2606040"/>
            <a:ext cx="3291840" cy="502920"/>
          </a:xfrm>
          <a:prstGeom prst="rect">
            <a:avLst/>
          </a:prstGeom>
          <a:solidFill>
            <a:srgbClr val="141414"/>
          </a:solidFill>
          <a:ln w="6350">
            <a:solidFill>
              <a:srgbClr val="0D0D0D"/>
            </a:solidFill>
            <a:prstDash val="solid"/>
          </a:ln>
        </p:spPr>
      </p:sp>
      <p:sp>
        <p:nvSpPr>
          <p:cNvPr id="27" name="Text 25"/>
          <p:cNvSpPr/>
          <p:nvPr/>
        </p:nvSpPr>
        <p:spPr>
          <a:xfrm>
            <a:off x="457200" y="2606040"/>
            <a:ext cx="3291840" cy="502920"/>
          </a:xfrm>
          <a:prstGeom prst="rect">
            <a:avLst/>
          </a:prstGeom>
          <a:noFill/>
          <a:ln/>
        </p:spPr>
        <p:txBody>
          <a:bodyPr wrap="square" lIns="0" tIns="10160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Smart Recall</a:t>
            </a:r>
            <a:endParaRPr lang="en-US" sz="1150" dirty="0"/>
          </a:p>
        </p:txBody>
      </p:sp>
      <p:sp>
        <p:nvSpPr>
          <p:cNvPr id="28" name="Shape 26"/>
          <p:cNvSpPr/>
          <p:nvPr/>
        </p:nvSpPr>
        <p:spPr>
          <a:xfrm>
            <a:off x="3749040" y="2606040"/>
            <a:ext cx="1280160" cy="502920"/>
          </a:xfrm>
          <a:prstGeom prst="rect">
            <a:avLst/>
          </a:prstGeom>
          <a:solidFill>
            <a:srgbClr val="141414"/>
          </a:solidFill>
          <a:ln w="6350">
            <a:solidFill>
              <a:srgbClr val="0D0D0D"/>
            </a:solidFill>
            <a:prstDash val="solid"/>
          </a:ln>
        </p:spPr>
      </p:sp>
      <p:sp>
        <p:nvSpPr>
          <p:cNvPr id="29" name="Text 27"/>
          <p:cNvSpPr/>
          <p:nvPr/>
        </p:nvSpPr>
        <p:spPr>
          <a:xfrm>
            <a:off x="3749040" y="2606040"/>
            <a:ext cx="1280160" cy="50292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8</a:t>
            </a:r>
            <a:endParaRPr lang="en-US" sz="1150" dirty="0"/>
          </a:p>
        </p:txBody>
      </p:sp>
      <p:sp>
        <p:nvSpPr>
          <p:cNvPr id="30" name="Shape 28"/>
          <p:cNvSpPr/>
          <p:nvPr/>
        </p:nvSpPr>
        <p:spPr>
          <a:xfrm>
            <a:off x="5029200" y="2606040"/>
            <a:ext cx="1280160" cy="502920"/>
          </a:xfrm>
          <a:prstGeom prst="rect">
            <a:avLst/>
          </a:prstGeom>
          <a:solidFill>
            <a:srgbClr val="141414"/>
          </a:solidFill>
          <a:ln w="6350">
            <a:solidFill>
              <a:srgbClr val="0D0D0D"/>
            </a:solidFill>
            <a:prstDash val="solid"/>
          </a:ln>
        </p:spPr>
      </p:sp>
      <p:sp>
        <p:nvSpPr>
          <p:cNvPr id="31" name="Text 29"/>
          <p:cNvSpPr/>
          <p:nvPr/>
        </p:nvSpPr>
        <p:spPr>
          <a:xfrm>
            <a:off x="5029200" y="2606040"/>
            <a:ext cx="1280160" cy="50292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8</a:t>
            </a:r>
            <a:endParaRPr lang="en-US" sz="1150" dirty="0"/>
          </a:p>
        </p:txBody>
      </p:sp>
      <p:sp>
        <p:nvSpPr>
          <p:cNvPr id="32" name="Shape 30"/>
          <p:cNvSpPr/>
          <p:nvPr/>
        </p:nvSpPr>
        <p:spPr>
          <a:xfrm>
            <a:off x="6309360" y="2606040"/>
            <a:ext cx="1280160" cy="502920"/>
          </a:xfrm>
          <a:prstGeom prst="rect">
            <a:avLst/>
          </a:prstGeom>
          <a:solidFill>
            <a:srgbClr val="141414"/>
          </a:solidFill>
          <a:ln w="6350">
            <a:solidFill>
              <a:srgbClr val="0D0D0D"/>
            </a:solidFill>
            <a:prstDash val="solid"/>
          </a:ln>
        </p:spPr>
      </p:sp>
      <p:sp>
        <p:nvSpPr>
          <p:cNvPr id="33" name="Text 31"/>
          <p:cNvSpPr/>
          <p:nvPr/>
        </p:nvSpPr>
        <p:spPr>
          <a:xfrm>
            <a:off x="6309360" y="2606040"/>
            <a:ext cx="1280160" cy="50292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90%</a:t>
            </a:r>
            <a:endParaRPr lang="en-US" sz="1150" dirty="0"/>
          </a:p>
        </p:txBody>
      </p:sp>
      <p:sp>
        <p:nvSpPr>
          <p:cNvPr id="34" name="Shape 32"/>
          <p:cNvSpPr/>
          <p:nvPr/>
        </p:nvSpPr>
        <p:spPr>
          <a:xfrm>
            <a:off x="7589520" y="2606040"/>
            <a:ext cx="1280160" cy="502920"/>
          </a:xfrm>
          <a:prstGeom prst="rect">
            <a:avLst/>
          </a:prstGeom>
          <a:solidFill>
            <a:srgbClr val="141414"/>
          </a:solidFill>
          <a:ln w="6350">
            <a:solidFill>
              <a:srgbClr val="0D0D0D"/>
            </a:solidFill>
            <a:prstDash val="solid"/>
          </a:ln>
        </p:spPr>
      </p:sp>
      <p:sp>
        <p:nvSpPr>
          <p:cNvPr id="35" name="Text 33"/>
          <p:cNvSpPr/>
          <p:nvPr/>
        </p:nvSpPr>
        <p:spPr>
          <a:xfrm>
            <a:off x="7589520" y="2606040"/>
            <a:ext cx="1280160" cy="50292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2</a:t>
            </a:r>
            <a:endParaRPr lang="en-US" sz="1150" dirty="0"/>
          </a:p>
        </p:txBody>
      </p:sp>
      <p:sp>
        <p:nvSpPr>
          <p:cNvPr id="36" name="Shape 34"/>
          <p:cNvSpPr/>
          <p:nvPr/>
        </p:nvSpPr>
        <p:spPr>
          <a:xfrm>
            <a:off x="8869680" y="2606040"/>
            <a:ext cx="1280160" cy="502920"/>
          </a:xfrm>
          <a:prstGeom prst="rect">
            <a:avLst/>
          </a:prstGeom>
          <a:solidFill>
            <a:srgbClr val="141414"/>
          </a:solidFill>
          <a:ln w="6350">
            <a:solidFill>
              <a:srgbClr val="0D0D0D"/>
            </a:solidFill>
            <a:prstDash val="solid"/>
          </a:ln>
        </p:spPr>
      </p:sp>
      <p:sp>
        <p:nvSpPr>
          <p:cNvPr id="37" name="Text 35"/>
          <p:cNvSpPr/>
          <p:nvPr/>
        </p:nvSpPr>
        <p:spPr>
          <a:xfrm>
            <a:off x="8869680" y="2606040"/>
            <a:ext cx="1280160" cy="502920"/>
          </a:xfrm>
          <a:prstGeom prst="rect">
            <a:avLst/>
          </a:prstGeom>
          <a:noFill/>
          <a:ln/>
        </p:spPr>
        <p:txBody>
          <a:bodyPr wrap="square" lIns="0" tIns="0" rIns="0" bIns="0" rtlCol="0" anchor="ctr"/>
          <a:lstStyle/>
          <a:p>
            <a:pPr algn="ctr" indent="0" marL="0">
              <a:buNone/>
            </a:pPr>
            <a:r>
              <a:rPr lang="en-US" sz="1150" b="1" dirty="0">
                <a:solidFill>
                  <a:srgbClr val="F5A623"/>
                </a:solidFill>
                <a:latin typeface="Calibri" pitchFamily="34" charset="0"/>
                <a:ea typeface="Calibri" pitchFamily="34" charset="-122"/>
                <a:cs typeface="Calibri" pitchFamily="34" charset="-120"/>
              </a:rPr>
              <a:t>28.8</a:t>
            </a:r>
            <a:endParaRPr lang="en-US" sz="1150" dirty="0"/>
          </a:p>
        </p:txBody>
      </p:sp>
      <p:sp>
        <p:nvSpPr>
          <p:cNvPr id="38" name="Shape 36"/>
          <p:cNvSpPr/>
          <p:nvPr/>
        </p:nvSpPr>
        <p:spPr>
          <a:xfrm>
            <a:off x="457200" y="3108960"/>
            <a:ext cx="3291840" cy="502920"/>
          </a:xfrm>
          <a:prstGeom prst="rect">
            <a:avLst/>
          </a:prstGeom>
          <a:solidFill>
            <a:srgbClr val="1A1A1A"/>
          </a:solidFill>
          <a:ln w="6350">
            <a:solidFill>
              <a:srgbClr val="0D0D0D"/>
            </a:solidFill>
            <a:prstDash val="solid"/>
          </a:ln>
        </p:spPr>
      </p:sp>
      <p:sp>
        <p:nvSpPr>
          <p:cNvPr id="39" name="Text 37"/>
          <p:cNvSpPr/>
          <p:nvPr/>
        </p:nvSpPr>
        <p:spPr>
          <a:xfrm>
            <a:off x="457200" y="3108960"/>
            <a:ext cx="3291840" cy="502920"/>
          </a:xfrm>
          <a:prstGeom prst="rect">
            <a:avLst/>
          </a:prstGeom>
          <a:noFill/>
          <a:ln/>
        </p:spPr>
        <p:txBody>
          <a:bodyPr wrap="square" lIns="0" tIns="10160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RideStreak</a:t>
            </a:r>
            <a:endParaRPr lang="en-US" sz="1150" dirty="0"/>
          </a:p>
        </p:txBody>
      </p:sp>
      <p:sp>
        <p:nvSpPr>
          <p:cNvPr id="40" name="Shape 38"/>
          <p:cNvSpPr/>
          <p:nvPr/>
        </p:nvSpPr>
        <p:spPr>
          <a:xfrm>
            <a:off x="3749040" y="3108960"/>
            <a:ext cx="1280160" cy="502920"/>
          </a:xfrm>
          <a:prstGeom prst="rect">
            <a:avLst/>
          </a:prstGeom>
          <a:solidFill>
            <a:srgbClr val="1A1A1A"/>
          </a:solidFill>
          <a:ln w="6350">
            <a:solidFill>
              <a:srgbClr val="0D0D0D"/>
            </a:solidFill>
            <a:prstDash val="solid"/>
          </a:ln>
        </p:spPr>
      </p:sp>
      <p:sp>
        <p:nvSpPr>
          <p:cNvPr id="41" name="Text 39"/>
          <p:cNvSpPr/>
          <p:nvPr/>
        </p:nvSpPr>
        <p:spPr>
          <a:xfrm>
            <a:off x="3749040" y="3108960"/>
            <a:ext cx="1280160" cy="50292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7</a:t>
            </a:r>
            <a:endParaRPr lang="en-US" sz="1150" dirty="0"/>
          </a:p>
        </p:txBody>
      </p:sp>
      <p:sp>
        <p:nvSpPr>
          <p:cNvPr id="42" name="Shape 40"/>
          <p:cNvSpPr/>
          <p:nvPr/>
        </p:nvSpPr>
        <p:spPr>
          <a:xfrm>
            <a:off x="5029200" y="3108960"/>
            <a:ext cx="1280160" cy="502920"/>
          </a:xfrm>
          <a:prstGeom prst="rect">
            <a:avLst/>
          </a:prstGeom>
          <a:solidFill>
            <a:srgbClr val="1A1A1A"/>
          </a:solidFill>
          <a:ln w="6350">
            <a:solidFill>
              <a:srgbClr val="0D0D0D"/>
            </a:solidFill>
            <a:prstDash val="solid"/>
          </a:ln>
        </p:spPr>
      </p:sp>
      <p:sp>
        <p:nvSpPr>
          <p:cNvPr id="43" name="Text 41"/>
          <p:cNvSpPr/>
          <p:nvPr/>
        </p:nvSpPr>
        <p:spPr>
          <a:xfrm>
            <a:off x="5029200" y="3108960"/>
            <a:ext cx="1280160" cy="50292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9</a:t>
            </a:r>
            <a:endParaRPr lang="en-US" sz="1150" dirty="0"/>
          </a:p>
        </p:txBody>
      </p:sp>
      <p:sp>
        <p:nvSpPr>
          <p:cNvPr id="44" name="Shape 42"/>
          <p:cNvSpPr/>
          <p:nvPr/>
        </p:nvSpPr>
        <p:spPr>
          <a:xfrm>
            <a:off x="6309360" y="3108960"/>
            <a:ext cx="1280160" cy="502920"/>
          </a:xfrm>
          <a:prstGeom prst="rect">
            <a:avLst/>
          </a:prstGeom>
          <a:solidFill>
            <a:srgbClr val="1A1A1A"/>
          </a:solidFill>
          <a:ln w="6350">
            <a:solidFill>
              <a:srgbClr val="0D0D0D"/>
            </a:solidFill>
            <a:prstDash val="solid"/>
          </a:ln>
        </p:spPr>
      </p:sp>
      <p:sp>
        <p:nvSpPr>
          <p:cNvPr id="45" name="Text 43"/>
          <p:cNvSpPr/>
          <p:nvPr/>
        </p:nvSpPr>
        <p:spPr>
          <a:xfrm>
            <a:off x="6309360" y="3108960"/>
            <a:ext cx="1280160" cy="50292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75%</a:t>
            </a:r>
            <a:endParaRPr lang="en-US" sz="1150" dirty="0"/>
          </a:p>
        </p:txBody>
      </p:sp>
      <p:sp>
        <p:nvSpPr>
          <p:cNvPr id="46" name="Shape 44"/>
          <p:cNvSpPr/>
          <p:nvPr/>
        </p:nvSpPr>
        <p:spPr>
          <a:xfrm>
            <a:off x="7589520" y="3108960"/>
            <a:ext cx="1280160" cy="502920"/>
          </a:xfrm>
          <a:prstGeom prst="rect">
            <a:avLst/>
          </a:prstGeom>
          <a:solidFill>
            <a:srgbClr val="1A1A1A"/>
          </a:solidFill>
          <a:ln w="6350">
            <a:solidFill>
              <a:srgbClr val="0D0D0D"/>
            </a:solidFill>
            <a:prstDash val="solid"/>
          </a:ln>
        </p:spPr>
      </p:sp>
      <p:sp>
        <p:nvSpPr>
          <p:cNvPr id="47" name="Text 45"/>
          <p:cNvSpPr/>
          <p:nvPr/>
        </p:nvSpPr>
        <p:spPr>
          <a:xfrm>
            <a:off x="7589520" y="3108960"/>
            <a:ext cx="1280160" cy="50292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4</a:t>
            </a:r>
            <a:endParaRPr lang="en-US" sz="1150" dirty="0"/>
          </a:p>
        </p:txBody>
      </p:sp>
      <p:sp>
        <p:nvSpPr>
          <p:cNvPr id="48" name="Shape 46"/>
          <p:cNvSpPr/>
          <p:nvPr/>
        </p:nvSpPr>
        <p:spPr>
          <a:xfrm>
            <a:off x="8869680" y="3108960"/>
            <a:ext cx="1280160" cy="502920"/>
          </a:xfrm>
          <a:prstGeom prst="rect">
            <a:avLst/>
          </a:prstGeom>
          <a:solidFill>
            <a:srgbClr val="1A1A1A"/>
          </a:solidFill>
          <a:ln w="6350">
            <a:solidFill>
              <a:srgbClr val="0D0D0D"/>
            </a:solidFill>
            <a:prstDash val="solid"/>
          </a:ln>
        </p:spPr>
      </p:sp>
      <p:sp>
        <p:nvSpPr>
          <p:cNvPr id="49" name="Text 47"/>
          <p:cNvSpPr/>
          <p:nvPr/>
        </p:nvSpPr>
        <p:spPr>
          <a:xfrm>
            <a:off x="8869680" y="3108960"/>
            <a:ext cx="1280160" cy="502920"/>
          </a:xfrm>
          <a:prstGeom prst="rect">
            <a:avLst/>
          </a:prstGeom>
          <a:noFill/>
          <a:ln/>
        </p:spPr>
        <p:txBody>
          <a:bodyPr wrap="square" lIns="0" tIns="0" rIns="0" bIns="0" rtlCol="0" anchor="ctr"/>
          <a:lstStyle/>
          <a:p>
            <a:pPr algn="ctr" indent="0" marL="0">
              <a:buNone/>
            </a:pPr>
            <a:r>
              <a:rPr lang="en-US" sz="1150" b="1" dirty="0">
                <a:solidFill>
                  <a:srgbClr val="F5A623"/>
                </a:solidFill>
                <a:latin typeface="Calibri" pitchFamily="34" charset="0"/>
                <a:ea typeface="Calibri" pitchFamily="34" charset="-122"/>
                <a:cs typeface="Calibri" pitchFamily="34" charset="-120"/>
              </a:rPr>
              <a:t>11.8</a:t>
            </a:r>
            <a:endParaRPr lang="en-US" sz="1150" dirty="0"/>
          </a:p>
        </p:txBody>
      </p:sp>
      <p:sp>
        <p:nvSpPr>
          <p:cNvPr id="50" name="Shape 48"/>
          <p:cNvSpPr/>
          <p:nvPr/>
        </p:nvSpPr>
        <p:spPr>
          <a:xfrm>
            <a:off x="457200" y="3611880"/>
            <a:ext cx="3291840" cy="502920"/>
          </a:xfrm>
          <a:prstGeom prst="rect">
            <a:avLst/>
          </a:prstGeom>
          <a:solidFill>
            <a:srgbClr val="141414"/>
          </a:solidFill>
          <a:ln w="6350">
            <a:solidFill>
              <a:srgbClr val="0D0D0D"/>
            </a:solidFill>
            <a:prstDash val="solid"/>
          </a:ln>
        </p:spPr>
      </p:sp>
      <p:sp>
        <p:nvSpPr>
          <p:cNvPr id="51" name="Text 49"/>
          <p:cNvSpPr/>
          <p:nvPr/>
        </p:nvSpPr>
        <p:spPr>
          <a:xfrm>
            <a:off x="457200" y="3611880"/>
            <a:ext cx="3291840" cy="502920"/>
          </a:xfrm>
          <a:prstGeom prst="rect">
            <a:avLst/>
          </a:prstGeom>
          <a:noFill/>
          <a:ln/>
        </p:spPr>
        <p:txBody>
          <a:bodyPr wrap="square" lIns="0" tIns="10160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Driver Familiarity Match</a:t>
            </a:r>
            <a:endParaRPr lang="en-US" sz="1150" dirty="0"/>
          </a:p>
        </p:txBody>
      </p:sp>
      <p:sp>
        <p:nvSpPr>
          <p:cNvPr id="52" name="Shape 50"/>
          <p:cNvSpPr/>
          <p:nvPr/>
        </p:nvSpPr>
        <p:spPr>
          <a:xfrm>
            <a:off x="3749040" y="3611880"/>
            <a:ext cx="1280160" cy="502920"/>
          </a:xfrm>
          <a:prstGeom prst="rect">
            <a:avLst/>
          </a:prstGeom>
          <a:solidFill>
            <a:srgbClr val="141414"/>
          </a:solidFill>
          <a:ln w="6350">
            <a:solidFill>
              <a:srgbClr val="0D0D0D"/>
            </a:solidFill>
            <a:prstDash val="solid"/>
          </a:ln>
        </p:spPr>
      </p:sp>
      <p:sp>
        <p:nvSpPr>
          <p:cNvPr id="53" name="Text 51"/>
          <p:cNvSpPr/>
          <p:nvPr/>
        </p:nvSpPr>
        <p:spPr>
          <a:xfrm>
            <a:off x="3749040" y="3611880"/>
            <a:ext cx="1280160" cy="50292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4</a:t>
            </a:r>
            <a:endParaRPr lang="en-US" sz="1150" dirty="0"/>
          </a:p>
        </p:txBody>
      </p:sp>
      <p:sp>
        <p:nvSpPr>
          <p:cNvPr id="54" name="Shape 52"/>
          <p:cNvSpPr/>
          <p:nvPr/>
        </p:nvSpPr>
        <p:spPr>
          <a:xfrm>
            <a:off x="5029200" y="3611880"/>
            <a:ext cx="1280160" cy="502920"/>
          </a:xfrm>
          <a:prstGeom prst="rect">
            <a:avLst/>
          </a:prstGeom>
          <a:solidFill>
            <a:srgbClr val="141414"/>
          </a:solidFill>
          <a:ln w="6350">
            <a:solidFill>
              <a:srgbClr val="0D0D0D"/>
            </a:solidFill>
            <a:prstDash val="solid"/>
          </a:ln>
        </p:spPr>
      </p:sp>
      <p:sp>
        <p:nvSpPr>
          <p:cNvPr id="55" name="Text 53"/>
          <p:cNvSpPr/>
          <p:nvPr/>
        </p:nvSpPr>
        <p:spPr>
          <a:xfrm>
            <a:off x="5029200" y="3611880"/>
            <a:ext cx="1280160" cy="50292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6</a:t>
            </a:r>
            <a:endParaRPr lang="en-US" sz="1150" dirty="0"/>
          </a:p>
        </p:txBody>
      </p:sp>
      <p:sp>
        <p:nvSpPr>
          <p:cNvPr id="56" name="Shape 54"/>
          <p:cNvSpPr/>
          <p:nvPr/>
        </p:nvSpPr>
        <p:spPr>
          <a:xfrm>
            <a:off x="6309360" y="3611880"/>
            <a:ext cx="1280160" cy="502920"/>
          </a:xfrm>
          <a:prstGeom prst="rect">
            <a:avLst/>
          </a:prstGeom>
          <a:solidFill>
            <a:srgbClr val="141414"/>
          </a:solidFill>
          <a:ln w="6350">
            <a:solidFill>
              <a:srgbClr val="0D0D0D"/>
            </a:solidFill>
            <a:prstDash val="solid"/>
          </a:ln>
        </p:spPr>
      </p:sp>
      <p:sp>
        <p:nvSpPr>
          <p:cNvPr id="57" name="Text 55"/>
          <p:cNvSpPr/>
          <p:nvPr/>
        </p:nvSpPr>
        <p:spPr>
          <a:xfrm>
            <a:off x="6309360" y="3611880"/>
            <a:ext cx="1280160" cy="50292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60%</a:t>
            </a:r>
            <a:endParaRPr lang="en-US" sz="1150" dirty="0"/>
          </a:p>
        </p:txBody>
      </p:sp>
      <p:sp>
        <p:nvSpPr>
          <p:cNvPr id="58" name="Shape 56"/>
          <p:cNvSpPr/>
          <p:nvPr/>
        </p:nvSpPr>
        <p:spPr>
          <a:xfrm>
            <a:off x="7589520" y="3611880"/>
            <a:ext cx="1280160" cy="502920"/>
          </a:xfrm>
          <a:prstGeom prst="rect">
            <a:avLst/>
          </a:prstGeom>
          <a:solidFill>
            <a:srgbClr val="141414"/>
          </a:solidFill>
          <a:ln w="6350">
            <a:solidFill>
              <a:srgbClr val="0D0D0D"/>
            </a:solidFill>
            <a:prstDash val="solid"/>
          </a:ln>
        </p:spPr>
      </p:sp>
      <p:sp>
        <p:nvSpPr>
          <p:cNvPr id="59" name="Text 57"/>
          <p:cNvSpPr/>
          <p:nvPr/>
        </p:nvSpPr>
        <p:spPr>
          <a:xfrm>
            <a:off x="7589520" y="3611880"/>
            <a:ext cx="1280160" cy="50292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6</a:t>
            </a:r>
            <a:endParaRPr lang="en-US" sz="1150" dirty="0"/>
          </a:p>
        </p:txBody>
      </p:sp>
      <p:sp>
        <p:nvSpPr>
          <p:cNvPr id="60" name="Shape 58"/>
          <p:cNvSpPr/>
          <p:nvPr/>
        </p:nvSpPr>
        <p:spPr>
          <a:xfrm>
            <a:off x="8869680" y="3611880"/>
            <a:ext cx="1280160" cy="502920"/>
          </a:xfrm>
          <a:prstGeom prst="rect">
            <a:avLst/>
          </a:prstGeom>
          <a:solidFill>
            <a:srgbClr val="141414"/>
          </a:solidFill>
          <a:ln w="6350">
            <a:solidFill>
              <a:srgbClr val="0D0D0D"/>
            </a:solidFill>
            <a:prstDash val="solid"/>
          </a:ln>
        </p:spPr>
      </p:sp>
      <p:sp>
        <p:nvSpPr>
          <p:cNvPr id="61" name="Text 59"/>
          <p:cNvSpPr/>
          <p:nvPr/>
        </p:nvSpPr>
        <p:spPr>
          <a:xfrm>
            <a:off x="8869680" y="3611880"/>
            <a:ext cx="1280160" cy="502920"/>
          </a:xfrm>
          <a:prstGeom prst="rect">
            <a:avLst/>
          </a:prstGeom>
          <a:noFill/>
          <a:ln/>
        </p:spPr>
        <p:txBody>
          <a:bodyPr wrap="square" lIns="0" tIns="0" rIns="0" bIns="0" rtlCol="0" anchor="ctr"/>
          <a:lstStyle/>
          <a:p>
            <a:pPr algn="ctr" indent="0" marL="0">
              <a:buNone/>
            </a:pPr>
            <a:r>
              <a:rPr lang="en-US" sz="1150" b="1" dirty="0">
                <a:solidFill>
                  <a:srgbClr val="F5A623"/>
                </a:solidFill>
                <a:latin typeface="Calibri" pitchFamily="34" charset="0"/>
                <a:ea typeface="Calibri" pitchFamily="34" charset="-122"/>
                <a:cs typeface="Calibri" pitchFamily="34" charset="-120"/>
              </a:rPr>
              <a:t>2.4</a:t>
            </a:r>
            <a:endParaRPr lang="en-US" sz="1150" dirty="0"/>
          </a:p>
        </p:txBody>
      </p:sp>
      <p:sp>
        <p:nvSpPr>
          <p:cNvPr id="62" name="Shape 60"/>
          <p:cNvSpPr/>
          <p:nvPr/>
        </p:nvSpPr>
        <p:spPr>
          <a:xfrm>
            <a:off x="457200" y="4572000"/>
            <a:ext cx="11247120" cy="1508760"/>
          </a:xfrm>
          <a:prstGeom prst="roundRect">
            <a:avLst>
              <a:gd name="adj" fmla="val 4848"/>
            </a:avLst>
          </a:prstGeom>
          <a:solidFill>
            <a:srgbClr val="1A1A1A"/>
          </a:solidFill>
          <a:ln/>
        </p:spPr>
      </p:sp>
      <p:sp>
        <p:nvSpPr>
          <p:cNvPr id="63" name="Text 61"/>
          <p:cNvSpPr/>
          <p:nvPr/>
        </p:nvSpPr>
        <p:spPr>
          <a:xfrm>
            <a:off x="685800" y="4709160"/>
            <a:ext cx="2743200" cy="274320"/>
          </a:xfrm>
          <a:prstGeom prst="rect">
            <a:avLst/>
          </a:prstGeom>
          <a:noFill/>
          <a:ln/>
        </p:spPr>
        <p:txBody>
          <a:bodyPr wrap="square" lIns="0" tIns="0" rIns="0" bIns="0" rtlCol="0" anchor="ctr"/>
          <a:lstStyle/>
          <a:p>
            <a:pPr indent="0" marL="0">
              <a:buNone/>
            </a:pPr>
            <a:r>
              <a:rPr lang="en-US" sz="1400" b="1" dirty="0">
                <a:solidFill>
                  <a:srgbClr val="F5A623"/>
                </a:solidFill>
                <a:latin typeface="Cambria" pitchFamily="34" charset="0"/>
                <a:ea typeface="Cambria" pitchFamily="34" charset="-122"/>
                <a:cs typeface="Cambria" pitchFamily="34" charset="-120"/>
              </a:rPr>
              <a:t>Priority order</a:t>
            </a:r>
            <a:endParaRPr lang="en-US" sz="1400" dirty="0"/>
          </a:p>
        </p:txBody>
      </p:sp>
      <p:sp>
        <p:nvSpPr>
          <p:cNvPr id="64" name="Text 62"/>
          <p:cNvSpPr/>
          <p:nvPr/>
        </p:nvSpPr>
        <p:spPr>
          <a:xfrm>
            <a:off x="685800" y="5029200"/>
            <a:ext cx="10789920" cy="320040"/>
          </a:xfrm>
          <a:prstGeom prst="rect">
            <a:avLst/>
          </a:prstGeom>
          <a:noFill/>
          <a:ln/>
        </p:spPr>
        <p:txBody>
          <a:bodyPr wrap="square" lIns="0" tIns="0" rIns="0" bIns="0" rtlCol="0" anchor="ctr"/>
          <a:lstStyle/>
          <a:p>
            <a:pPr indent="0" marL="0">
              <a:buNone/>
            </a:pPr>
            <a:r>
              <a:rPr lang="en-US" sz="1150" dirty="0">
                <a:solidFill>
                  <a:srgbClr val="B0B0B0"/>
                </a:solidFill>
                <a:latin typeface="Calibri" pitchFamily="34" charset="0"/>
                <a:ea typeface="Calibri" pitchFamily="34" charset="-122"/>
                <a:cs typeface="Calibri" pitchFamily="34" charset="-120"/>
              </a:rPr>
              <a:t>1. Smart Recall — highest reach and confidence, lowest build cost</a:t>
            </a:r>
            <a:endParaRPr lang="en-US" sz="1150" dirty="0"/>
          </a:p>
        </p:txBody>
      </p:sp>
      <p:sp>
        <p:nvSpPr>
          <p:cNvPr id="65" name="Text 63"/>
          <p:cNvSpPr/>
          <p:nvPr/>
        </p:nvSpPr>
        <p:spPr>
          <a:xfrm>
            <a:off x="685800" y="5376672"/>
            <a:ext cx="10789920" cy="320040"/>
          </a:xfrm>
          <a:prstGeom prst="rect">
            <a:avLst/>
          </a:prstGeom>
          <a:noFill/>
          <a:ln/>
        </p:spPr>
        <p:txBody>
          <a:bodyPr wrap="square" lIns="0" tIns="0" rIns="0" bIns="0" rtlCol="0" anchor="ctr"/>
          <a:lstStyle/>
          <a:p>
            <a:pPr indent="0" marL="0">
              <a:buNone/>
            </a:pPr>
            <a:r>
              <a:rPr lang="en-US" sz="1150" dirty="0">
                <a:solidFill>
                  <a:srgbClr val="B0B0B0"/>
                </a:solidFill>
                <a:latin typeface="Calibri" pitchFamily="34" charset="0"/>
                <a:ea typeface="Calibri" pitchFamily="34" charset="-122"/>
                <a:cs typeface="Calibri" pitchFamily="34" charset="-120"/>
              </a:rPr>
              <a:t>2. RideStreak — strong long-term habit impact, moderate build effort</a:t>
            </a:r>
            <a:endParaRPr lang="en-US" sz="1150" dirty="0"/>
          </a:p>
        </p:txBody>
      </p:sp>
      <p:sp>
        <p:nvSpPr>
          <p:cNvPr id="66" name="Text 64"/>
          <p:cNvSpPr/>
          <p:nvPr/>
        </p:nvSpPr>
        <p:spPr>
          <a:xfrm>
            <a:off x="685800" y="5724144"/>
            <a:ext cx="10789920" cy="320040"/>
          </a:xfrm>
          <a:prstGeom prst="rect">
            <a:avLst/>
          </a:prstGeom>
          <a:noFill/>
          <a:ln/>
        </p:spPr>
        <p:txBody>
          <a:bodyPr wrap="square" lIns="0" tIns="0" rIns="0" bIns="0" rtlCol="0" anchor="ctr"/>
          <a:lstStyle/>
          <a:p>
            <a:pPr indent="0" marL="0">
              <a:buNone/>
            </a:pPr>
            <a:r>
              <a:rPr lang="en-US" sz="1150" dirty="0">
                <a:solidFill>
                  <a:srgbClr val="B0B0B0"/>
                </a:solidFill>
                <a:latin typeface="Calibri" pitchFamily="34" charset="0"/>
                <a:ea typeface="Calibri" pitchFamily="34" charset="-122"/>
                <a:cs typeface="Calibri" pitchFamily="34" charset="-120"/>
              </a:rPr>
              <a:t>3. Driver Familiarity Match — valuable but narrower reach, highest effort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457200" y="256032"/>
            <a:ext cx="457200" cy="310896"/>
          </a:xfrm>
          <a:prstGeom prst="roundRect">
            <a:avLst>
              <a:gd name="adj" fmla="val 17647"/>
            </a:avLst>
          </a:prstGeom>
          <a:solidFill>
            <a:srgbClr val="1A1A1A"/>
          </a:solidFill>
          <a:ln/>
        </p:spPr>
      </p:sp>
      <p:sp>
        <p:nvSpPr>
          <p:cNvPr id="3" name="Text 1"/>
          <p:cNvSpPr/>
          <p:nvPr/>
        </p:nvSpPr>
        <p:spPr>
          <a:xfrm>
            <a:off x="457200" y="256032"/>
            <a:ext cx="457200" cy="310896"/>
          </a:xfrm>
          <a:prstGeom prst="rect">
            <a:avLst/>
          </a:prstGeom>
          <a:noFill/>
          <a:ln/>
        </p:spPr>
        <p:txBody>
          <a:bodyPr wrap="square" rtlCol="0" anchor="ctr"/>
          <a:lstStyle/>
          <a:p>
            <a:pPr algn="ctr" indent="0" marL="0">
              <a:buNone/>
            </a:pPr>
            <a:r>
              <a:rPr lang="en-US" sz="1400" b="1" dirty="0">
                <a:solidFill>
                  <a:srgbClr val="F5A623"/>
                </a:solidFill>
                <a:latin typeface="Arial" pitchFamily="34" charset="0"/>
                <a:ea typeface="Arial" pitchFamily="34" charset="-122"/>
                <a:cs typeface="Arial" pitchFamily="34" charset="-120"/>
              </a:rPr>
              <a:t>R</a:t>
            </a:r>
            <a:endParaRPr lang="en-US" sz="1400" dirty="0"/>
          </a:p>
        </p:txBody>
      </p:sp>
      <p:sp>
        <p:nvSpPr>
          <p:cNvPr id="4" name="Text 2"/>
          <p:cNvSpPr/>
          <p:nvPr/>
        </p:nvSpPr>
        <p:spPr>
          <a:xfrm>
            <a:off x="1097280" y="274320"/>
            <a:ext cx="969264"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OVERVIEW</a:t>
            </a:r>
            <a:endParaRPr lang="en-US" sz="1000" dirty="0"/>
          </a:p>
        </p:txBody>
      </p:sp>
      <p:sp>
        <p:nvSpPr>
          <p:cNvPr id="5" name="Text 3"/>
          <p:cNvSpPr/>
          <p:nvPr/>
        </p:nvSpPr>
        <p:spPr>
          <a:xfrm>
            <a:off x="2203704" y="274320"/>
            <a:ext cx="1751076"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PROBLEM STATEMENT</a:t>
            </a:r>
            <a:endParaRPr lang="en-US" sz="1000" dirty="0"/>
          </a:p>
        </p:txBody>
      </p:sp>
      <p:sp>
        <p:nvSpPr>
          <p:cNvPr id="6" name="Text 4"/>
          <p:cNvSpPr/>
          <p:nvPr/>
        </p:nvSpPr>
        <p:spPr>
          <a:xfrm>
            <a:off x="4091940" y="274320"/>
            <a:ext cx="1403604"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USER PERSONAS</a:t>
            </a:r>
            <a:endParaRPr lang="en-US" sz="1000" dirty="0"/>
          </a:p>
        </p:txBody>
      </p:sp>
      <p:sp>
        <p:nvSpPr>
          <p:cNvPr id="7" name="Text 5"/>
          <p:cNvSpPr/>
          <p:nvPr/>
        </p:nvSpPr>
        <p:spPr>
          <a:xfrm>
            <a:off x="5632704" y="274320"/>
            <a:ext cx="1056132"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SOLUTIONS</a:t>
            </a:r>
            <a:endParaRPr lang="en-US" sz="1000" dirty="0"/>
          </a:p>
        </p:txBody>
      </p:sp>
      <p:sp>
        <p:nvSpPr>
          <p:cNvPr id="8" name="Text 6"/>
          <p:cNvSpPr/>
          <p:nvPr/>
        </p:nvSpPr>
        <p:spPr>
          <a:xfrm>
            <a:off x="6825996" y="274320"/>
            <a:ext cx="1490472" cy="274320"/>
          </a:xfrm>
          <a:prstGeom prst="rect">
            <a:avLst/>
          </a:prstGeom>
          <a:noFill/>
          <a:ln/>
        </p:spPr>
        <p:txBody>
          <a:bodyPr wrap="square" lIns="0" tIns="0" rIns="0" bIns="0" rtlCol="0" anchor="ctr"/>
          <a:lstStyle/>
          <a:p>
            <a:pPr algn="ctr" indent="0" marL="0">
              <a:buNone/>
            </a:pPr>
            <a:r>
              <a:rPr lang="en-US" sz="1000" dirty="0">
                <a:solidFill>
                  <a:srgbClr val="B0B0B0"/>
                </a:solidFill>
                <a:latin typeface="Calibri" pitchFamily="34" charset="0"/>
                <a:ea typeface="Calibri" pitchFamily="34" charset="-122"/>
                <a:cs typeface="Calibri" pitchFamily="34" charset="-120"/>
              </a:rPr>
              <a:t>PRIORITIZATION</a:t>
            </a:r>
            <a:endParaRPr lang="en-US" sz="1000" dirty="0"/>
          </a:p>
        </p:txBody>
      </p:sp>
      <p:sp>
        <p:nvSpPr>
          <p:cNvPr id="9" name="Shape 7"/>
          <p:cNvSpPr/>
          <p:nvPr/>
        </p:nvSpPr>
        <p:spPr>
          <a:xfrm>
            <a:off x="8453628" y="274320"/>
            <a:ext cx="621792" cy="274320"/>
          </a:xfrm>
          <a:prstGeom prst="roundRect">
            <a:avLst>
              <a:gd name="adj" fmla="val 50000"/>
            </a:avLst>
          </a:prstGeom>
          <a:solidFill>
            <a:srgbClr val="F5A623"/>
          </a:solidFill>
          <a:ln/>
        </p:spPr>
      </p:sp>
      <p:sp>
        <p:nvSpPr>
          <p:cNvPr id="10" name="Text 8"/>
          <p:cNvSpPr/>
          <p:nvPr/>
        </p:nvSpPr>
        <p:spPr>
          <a:xfrm>
            <a:off x="8453628" y="274320"/>
            <a:ext cx="621792" cy="274320"/>
          </a:xfrm>
          <a:prstGeom prst="rect">
            <a:avLst/>
          </a:prstGeom>
          <a:noFill/>
          <a:ln/>
        </p:spPr>
        <p:txBody>
          <a:bodyPr wrap="square" lIns="0" tIns="0" rIns="0" bIns="0" rtlCol="0" anchor="ctr"/>
          <a:lstStyle/>
          <a:p>
            <a:pPr algn="ctr" indent="0" marL="0">
              <a:buNone/>
            </a:pPr>
            <a:r>
              <a:rPr lang="en-US" sz="1000" b="1" dirty="0">
                <a:solidFill>
                  <a:srgbClr val="1A1A00"/>
                </a:solidFill>
                <a:latin typeface="Calibri" pitchFamily="34" charset="0"/>
                <a:ea typeface="Calibri" pitchFamily="34" charset="-122"/>
                <a:cs typeface="Calibri" pitchFamily="34" charset="-120"/>
              </a:rPr>
              <a:t>KPIs</a:t>
            </a:r>
            <a:endParaRPr lang="en-US" sz="1000" dirty="0"/>
          </a:p>
        </p:txBody>
      </p:sp>
      <p:sp>
        <p:nvSpPr>
          <p:cNvPr id="11" name="Text 9"/>
          <p:cNvSpPr/>
          <p:nvPr/>
        </p:nvSpPr>
        <p:spPr>
          <a:xfrm>
            <a:off x="457200" y="777240"/>
            <a:ext cx="112471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KPIs (key performance indicators)</a:t>
            </a:r>
            <a:endParaRPr lang="en-US" sz="3000" dirty="0"/>
          </a:p>
        </p:txBody>
      </p:sp>
      <p:sp>
        <p:nvSpPr>
          <p:cNvPr id="12" name="Shape 10"/>
          <p:cNvSpPr/>
          <p:nvPr/>
        </p:nvSpPr>
        <p:spPr>
          <a:xfrm>
            <a:off x="4937760" y="1554480"/>
            <a:ext cx="2286000" cy="594360"/>
          </a:xfrm>
          <a:prstGeom prst="roundRect">
            <a:avLst>
              <a:gd name="adj" fmla="val 15385"/>
            </a:avLst>
          </a:prstGeom>
          <a:solidFill>
            <a:srgbClr val="F5A623"/>
          </a:solidFill>
          <a:ln/>
        </p:spPr>
      </p:sp>
      <p:sp>
        <p:nvSpPr>
          <p:cNvPr id="13" name="Text 11"/>
          <p:cNvSpPr/>
          <p:nvPr/>
        </p:nvSpPr>
        <p:spPr>
          <a:xfrm>
            <a:off x="4937760" y="1554480"/>
            <a:ext cx="2286000" cy="594360"/>
          </a:xfrm>
          <a:prstGeom prst="rect">
            <a:avLst/>
          </a:prstGeom>
          <a:noFill/>
          <a:ln/>
        </p:spPr>
        <p:txBody>
          <a:bodyPr wrap="square" lIns="0" tIns="0" rIns="0" bIns="0" rtlCol="0" anchor="ctr"/>
          <a:lstStyle/>
          <a:p>
            <a:pPr algn="ctr" indent="0" marL="0">
              <a:buNone/>
            </a:pPr>
            <a:r>
              <a:rPr lang="en-US" sz="1100" b="1" dirty="0">
                <a:solidFill>
                  <a:srgbClr val="1A1A00"/>
                </a:solidFill>
                <a:latin typeface="Calibri" pitchFamily="34" charset="0"/>
                <a:ea typeface="Calibri" pitchFamily="34" charset="-122"/>
                <a:cs typeface="Calibri" pitchFamily="34" charset="-120"/>
              </a:rPr>
              <a:t>Retention &amp; engagement</a:t>
            </a:r>
            <a:endParaRPr lang="en-US" sz="1100" dirty="0"/>
          </a:p>
        </p:txBody>
      </p:sp>
      <p:sp>
        <p:nvSpPr>
          <p:cNvPr id="14" name="Shape 12"/>
          <p:cNvSpPr/>
          <p:nvPr/>
        </p:nvSpPr>
        <p:spPr>
          <a:xfrm>
            <a:off x="1737360" y="2148840"/>
            <a:ext cx="0" cy="365760"/>
          </a:xfrm>
          <a:prstGeom prst="line">
            <a:avLst/>
          </a:prstGeom>
          <a:noFill/>
          <a:ln w="9525">
            <a:solidFill>
              <a:srgbClr val="6E6E6E"/>
            </a:solidFill>
            <a:prstDash val="solid"/>
          </a:ln>
        </p:spPr>
      </p:sp>
      <p:sp>
        <p:nvSpPr>
          <p:cNvPr id="15" name="Shape 13"/>
          <p:cNvSpPr/>
          <p:nvPr/>
        </p:nvSpPr>
        <p:spPr>
          <a:xfrm>
            <a:off x="457200" y="2514600"/>
            <a:ext cx="2606040" cy="3291840"/>
          </a:xfrm>
          <a:prstGeom prst="roundRect">
            <a:avLst>
              <a:gd name="adj" fmla="val 2807"/>
            </a:avLst>
          </a:prstGeom>
          <a:solidFill>
            <a:srgbClr val="1A1A1A"/>
          </a:solidFill>
          <a:ln/>
        </p:spPr>
      </p:sp>
      <p:sp>
        <p:nvSpPr>
          <p:cNvPr id="16" name="Text 14"/>
          <p:cNvSpPr/>
          <p:nvPr/>
        </p:nvSpPr>
        <p:spPr>
          <a:xfrm>
            <a:off x="640080" y="2697480"/>
            <a:ext cx="2240280" cy="502920"/>
          </a:xfrm>
          <a:prstGeom prst="rect">
            <a:avLst/>
          </a:prstGeom>
          <a:noFill/>
          <a:ln/>
        </p:spPr>
        <p:txBody>
          <a:bodyPr wrap="square" lIns="0" tIns="0" rIns="0" bIns="0" rtlCol="0" anchor="ctr"/>
          <a:lstStyle/>
          <a:p>
            <a:pPr indent="0" marL="0">
              <a:lnSpc>
                <a:spcPct val="110000"/>
              </a:lnSpc>
              <a:buNone/>
            </a:pPr>
            <a:r>
              <a:rPr lang="en-US" sz="1250" b="1" dirty="0">
                <a:solidFill>
                  <a:srgbClr val="F5A623"/>
                </a:solidFill>
                <a:latin typeface="Calibri" pitchFamily="34" charset="0"/>
                <a:ea typeface="Calibri" pitchFamily="34" charset="-122"/>
                <a:cs typeface="Calibri" pitchFamily="34" charset="-120"/>
              </a:rPr>
              <a:t>App-switch behavior</a:t>
            </a:r>
            <a:endParaRPr lang="en-US" sz="1250" dirty="0"/>
          </a:p>
        </p:txBody>
      </p:sp>
      <p:sp>
        <p:nvSpPr>
          <p:cNvPr id="17" name="Text 15"/>
          <p:cNvSpPr/>
          <p:nvPr/>
        </p:nvSpPr>
        <p:spPr>
          <a:xfrm>
            <a:off x="640080" y="3291840"/>
            <a:ext cx="2240280" cy="2377440"/>
          </a:xfrm>
          <a:prstGeom prst="rect">
            <a:avLst/>
          </a:prstGeom>
          <a:noFill/>
          <a:ln/>
        </p:spPr>
        <p:txBody>
          <a:bodyPr wrap="square" lIns="0" tIns="0" rIns="0" bIns="0" rtlCol="0" anchor="ctr"/>
          <a:lstStyle/>
          <a:p>
            <a:pPr marL="342900" indent="-342900">
              <a:lnSpc>
                <a:spcPct val="135000"/>
              </a:lnSpc>
              <a:buSzPct val="100000"/>
              <a:buChar char="•"/>
            </a:pPr>
            <a:r>
              <a:rPr lang="en-US" sz="1000" dirty="0">
                <a:solidFill>
                  <a:srgbClr val="B0B0B0"/>
                </a:solidFill>
                <a:latin typeface="Calibri" pitchFamily="34" charset="0"/>
                <a:ea typeface="Calibri" pitchFamily="34" charset="-122"/>
                <a:cs typeface="Calibri" pitchFamily="34" charset="-120"/>
              </a:rPr>
              <a:t>Cross-app comparison rate</a:t>
            </a:r>
            <a:endParaRPr lang="en-US" sz="1000" dirty="0"/>
          </a:p>
          <a:p>
            <a:pPr marL="342900" indent="-342900">
              <a:lnSpc>
                <a:spcPct val="135000"/>
              </a:lnSpc>
              <a:buSzPct val="100000"/>
              <a:buChar char="•"/>
            </a:pPr>
            <a:r>
              <a:rPr lang="en-US" sz="1000" dirty="0">
                <a:solidFill>
                  <a:srgbClr val="B0B0B0"/>
                </a:solidFill>
                <a:latin typeface="Calibri" pitchFamily="34" charset="0"/>
                <a:ea typeface="Calibri" pitchFamily="34" charset="-122"/>
                <a:cs typeface="Calibri" pitchFamily="34" charset="-120"/>
              </a:rPr>
              <a:t>One-tap booking rate</a:t>
            </a:r>
            <a:endParaRPr lang="en-US" sz="1000" dirty="0"/>
          </a:p>
          <a:p>
            <a:pPr marL="342900" indent="-342900">
              <a:lnSpc>
                <a:spcPct val="135000"/>
              </a:lnSpc>
              <a:buSzPct val="100000"/>
              <a:buChar char="•"/>
            </a:pPr>
            <a:r>
              <a:rPr lang="en-US" sz="1000" dirty="0">
                <a:solidFill>
                  <a:srgbClr val="B0B0B0"/>
                </a:solidFill>
                <a:latin typeface="Calibri" pitchFamily="34" charset="0"/>
                <a:ea typeface="Calibri" pitchFamily="34" charset="-122"/>
                <a:cs typeface="Calibri" pitchFamily="34" charset="-120"/>
              </a:rPr>
              <a:t>Booking speed (open-to-confirm)</a:t>
            </a:r>
            <a:endParaRPr lang="en-US" sz="1000" dirty="0"/>
          </a:p>
        </p:txBody>
      </p:sp>
      <p:sp>
        <p:nvSpPr>
          <p:cNvPr id="18" name="Shape 16"/>
          <p:cNvSpPr/>
          <p:nvPr/>
        </p:nvSpPr>
        <p:spPr>
          <a:xfrm>
            <a:off x="4572000" y="2148840"/>
            <a:ext cx="0" cy="365760"/>
          </a:xfrm>
          <a:prstGeom prst="line">
            <a:avLst/>
          </a:prstGeom>
          <a:noFill/>
          <a:ln w="9525">
            <a:solidFill>
              <a:srgbClr val="6E6E6E"/>
            </a:solidFill>
            <a:prstDash val="solid"/>
          </a:ln>
        </p:spPr>
      </p:sp>
      <p:sp>
        <p:nvSpPr>
          <p:cNvPr id="19" name="Shape 17"/>
          <p:cNvSpPr/>
          <p:nvPr/>
        </p:nvSpPr>
        <p:spPr>
          <a:xfrm>
            <a:off x="3291840" y="2514600"/>
            <a:ext cx="2606040" cy="3291840"/>
          </a:xfrm>
          <a:prstGeom prst="roundRect">
            <a:avLst>
              <a:gd name="adj" fmla="val 2807"/>
            </a:avLst>
          </a:prstGeom>
          <a:solidFill>
            <a:srgbClr val="1A1A1A"/>
          </a:solidFill>
          <a:ln/>
        </p:spPr>
      </p:sp>
      <p:sp>
        <p:nvSpPr>
          <p:cNvPr id="20" name="Text 18"/>
          <p:cNvSpPr/>
          <p:nvPr/>
        </p:nvSpPr>
        <p:spPr>
          <a:xfrm>
            <a:off x="3474720" y="2697480"/>
            <a:ext cx="2240280" cy="502920"/>
          </a:xfrm>
          <a:prstGeom prst="rect">
            <a:avLst/>
          </a:prstGeom>
          <a:noFill/>
          <a:ln/>
        </p:spPr>
        <p:txBody>
          <a:bodyPr wrap="square" lIns="0" tIns="0" rIns="0" bIns="0" rtlCol="0" anchor="ctr"/>
          <a:lstStyle/>
          <a:p>
            <a:pPr indent="0" marL="0">
              <a:lnSpc>
                <a:spcPct val="110000"/>
              </a:lnSpc>
              <a:buNone/>
            </a:pPr>
            <a:r>
              <a:rPr lang="en-US" sz="1250" b="1" dirty="0">
                <a:solidFill>
                  <a:srgbClr val="F5A623"/>
                </a:solidFill>
                <a:latin typeface="Calibri" pitchFamily="34" charset="0"/>
                <a:ea typeface="Calibri" pitchFamily="34" charset="-122"/>
                <a:cs typeface="Calibri" pitchFamily="34" charset="-120"/>
              </a:rPr>
              <a:t>Habit formation</a:t>
            </a:r>
            <a:endParaRPr lang="en-US" sz="1250" dirty="0"/>
          </a:p>
        </p:txBody>
      </p:sp>
      <p:sp>
        <p:nvSpPr>
          <p:cNvPr id="21" name="Text 19"/>
          <p:cNvSpPr/>
          <p:nvPr/>
        </p:nvSpPr>
        <p:spPr>
          <a:xfrm>
            <a:off x="3474720" y="3291840"/>
            <a:ext cx="2240280" cy="2377440"/>
          </a:xfrm>
          <a:prstGeom prst="rect">
            <a:avLst/>
          </a:prstGeom>
          <a:noFill/>
          <a:ln/>
        </p:spPr>
        <p:txBody>
          <a:bodyPr wrap="square" lIns="0" tIns="0" rIns="0" bIns="0" rtlCol="0" anchor="ctr"/>
          <a:lstStyle/>
          <a:p>
            <a:pPr marL="342900" indent="-342900">
              <a:lnSpc>
                <a:spcPct val="135000"/>
              </a:lnSpc>
              <a:buSzPct val="100000"/>
              <a:buChar char="•"/>
            </a:pPr>
            <a:r>
              <a:rPr lang="en-US" sz="1000" dirty="0">
                <a:solidFill>
                  <a:srgbClr val="B0B0B0"/>
                </a:solidFill>
                <a:latin typeface="Calibri" pitchFamily="34" charset="0"/>
                <a:ea typeface="Calibri" pitchFamily="34" charset="-122"/>
                <a:cs typeface="Calibri" pitchFamily="34" charset="-120"/>
              </a:rPr>
              <a:t>90-day retention rate</a:t>
            </a:r>
            <a:endParaRPr lang="en-US" sz="1000" dirty="0"/>
          </a:p>
          <a:p>
            <a:pPr marL="342900" indent="-342900">
              <a:lnSpc>
                <a:spcPct val="135000"/>
              </a:lnSpc>
              <a:buSzPct val="100000"/>
              <a:buChar char="•"/>
            </a:pPr>
            <a:r>
              <a:rPr lang="en-US" sz="1000" dirty="0">
                <a:solidFill>
                  <a:srgbClr val="B0B0B0"/>
                </a:solidFill>
                <a:latin typeface="Calibri" pitchFamily="34" charset="0"/>
                <a:ea typeface="Calibri" pitchFamily="34" charset="-122"/>
                <a:cs typeface="Calibri" pitchFamily="34" charset="-120"/>
              </a:rPr>
              <a:t>Ride frequency per user/month</a:t>
            </a:r>
            <a:endParaRPr lang="en-US" sz="1000" dirty="0"/>
          </a:p>
          <a:p>
            <a:pPr marL="342900" indent="-342900">
              <a:lnSpc>
                <a:spcPct val="135000"/>
              </a:lnSpc>
              <a:buSzPct val="100000"/>
              <a:buChar char="•"/>
            </a:pPr>
            <a:r>
              <a:rPr lang="en-US" sz="1000" dirty="0">
                <a:solidFill>
                  <a:srgbClr val="B0B0B0"/>
                </a:solidFill>
                <a:latin typeface="Calibri" pitchFamily="34" charset="0"/>
                <a:ea typeface="Calibri" pitchFamily="34" charset="-122"/>
                <a:cs typeface="Calibri" pitchFamily="34" charset="-120"/>
              </a:rPr>
              <a:t>Streak completion rate</a:t>
            </a:r>
            <a:endParaRPr lang="en-US" sz="1000" dirty="0"/>
          </a:p>
        </p:txBody>
      </p:sp>
      <p:sp>
        <p:nvSpPr>
          <p:cNvPr id="22" name="Shape 20"/>
          <p:cNvSpPr/>
          <p:nvPr/>
        </p:nvSpPr>
        <p:spPr>
          <a:xfrm>
            <a:off x="7406640" y="2148840"/>
            <a:ext cx="0" cy="365760"/>
          </a:xfrm>
          <a:prstGeom prst="line">
            <a:avLst/>
          </a:prstGeom>
          <a:noFill/>
          <a:ln w="9525">
            <a:solidFill>
              <a:srgbClr val="6E6E6E"/>
            </a:solidFill>
            <a:prstDash val="solid"/>
          </a:ln>
        </p:spPr>
      </p:sp>
      <p:sp>
        <p:nvSpPr>
          <p:cNvPr id="23" name="Shape 21"/>
          <p:cNvSpPr/>
          <p:nvPr/>
        </p:nvSpPr>
        <p:spPr>
          <a:xfrm>
            <a:off x="6126480" y="2514600"/>
            <a:ext cx="2606040" cy="3291840"/>
          </a:xfrm>
          <a:prstGeom prst="roundRect">
            <a:avLst>
              <a:gd name="adj" fmla="val 2807"/>
            </a:avLst>
          </a:prstGeom>
          <a:solidFill>
            <a:srgbClr val="1A1A1A"/>
          </a:solidFill>
          <a:ln/>
        </p:spPr>
      </p:sp>
      <p:sp>
        <p:nvSpPr>
          <p:cNvPr id="24" name="Text 22"/>
          <p:cNvSpPr/>
          <p:nvPr/>
        </p:nvSpPr>
        <p:spPr>
          <a:xfrm>
            <a:off x="6309360" y="2697480"/>
            <a:ext cx="2240280" cy="502920"/>
          </a:xfrm>
          <a:prstGeom prst="rect">
            <a:avLst/>
          </a:prstGeom>
          <a:noFill/>
          <a:ln/>
        </p:spPr>
        <p:txBody>
          <a:bodyPr wrap="square" lIns="0" tIns="0" rIns="0" bIns="0" rtlCol="0" anchor="ctr"/>
          <a:lstStyle/>
          <a:p>
            <a:pPr indent="0" marL="0">
              <a:lnSpc>
                <a:spcPct val="110000"/>
              </a:lnSpc>
              <a:buNone/>
            </a:pPr>
            <a:r>
              <a:rPr lang="en-US" sz="1250" b="1" dirty="0">
                <a:solidFill>
                  <a:srgbClr val="F5A623"/>
                </a:solidFill>
                <a:latin typeface="Calibri" pitchFamily="34" charset="0"/>
                <a:ea typeface="Calibri" pitchFamily="34" charset="-122"/>
                <a:cs typeface="Calibri" pitchFamily="34" charset="-120"/>
              </a:rPr>
              <a:t>Trust &amp; quality</a:t>
            </a:r>
            <a:endParaRPr lang="en-US" sz="1250" dirty="0"/>
          </a:p>
        </p:txBody>
      </p:sp>
      <p:sp>
        <p:nvSpPr>
          <p:cNvPr id="25" name="Text 23"/>
          <p:cNvSpPr/>
          <p:nvPr/>
        </p:nvSpPr>
        <p:spPr>
          <a:xfrm>
            <a:off x="6309360" y="3291840"/>
            <a:ext cx="2240280" cy="2377440"/>
          </a:xfrm>
          <a:prstGeom prst="rect">
            <a:avLst/>
          </a:prstGeom>
          <a:noFill/>
          <a:ln/>
        </p:spPr>
        <p:txBody>
          <a:bodyPr wrap="square" lIns="0" tIns="0" rIns="0" bIns="0" rtlCol="0" anchor="ctr"/>
          <a:lstStyle/>
          <a:p>
            <a:pPr marL="342900" indent="-342900">
              <a:lnSpc>
                <a:spcPct val="135000"/>
              </a:lnSpc>
              <a:buSzPct val="100000"/>
              <a:buChar char="•"/>
            </a:pPr>
            <a:r>
              <a:rPr lang="en-US" sz="1000" dirty="0">
                <a:solidFill>
                  <a:srgbClr val="B0B0B0"/>
                </a:solidFill>
                <a:latin typeface="Calibri" pitchFamily="34" charset="0"/>
                <a:ea typeface="Calibri" pitchFamily="34" charset="-122"/>
                <a:cs typeface="Calibri" pitchFamily="34" charset="-120"/>
              </a:rPr>
              <a:t>Driver-repeat match rate</a:t>
            </a:r>
            <a:endParaRPr lang="en-US" sz="1000" dirty="0"/>
          </a:p>
          <a:p>
            <a:pPr marL="342900" indent="-342900">
              <a:lnSpc>
                <a:spcPct val="135000"/>
              </a:lnSpc>
              <a:buSzPct val="100000"/>
              <a:buChar char="•"/>
            </a:pPr>
            <a:r>
              <a:rPr lang="en-US" sz="1000" dirty="0">
                <a:solidFill>
                  <a:srgbClr val="B0B0B0"/>
                </a:solidFill>
                <a:latin typeface="Calibri" pitchFamily="34" charset="0"/>
                <a:ea typeface="Calibri" pitchFamily="34" charset="-122"/>
                <a:cs typeface="Calibri" pitchFamily="34" charset="-120"/>
              </a:rPr>
              <a:t>Ride satisfaction / rating</a:t>
            </a:r>
            <a:endParaRPr lang="en-US" sz="1000" dirty="0"/>
          </a:p>
          <a:p>
            <a:pPr marL="342900" indent="-342900">
              <a:lnSpc>
                <a:spcPct val="135000"/>
              </a:lnSpc>
              <a:buSzPct val="100000"/>
              <a:buChar char="•"/>
            </a:pPr>
            <a:r>
              <a:rPr lang="en-US" sz="1000" dirty="0">
                <a:solidFill>
                  <a:srgbClr val="B0B0B0"/>
                </a:solidFill>
                <a:latin typeface="Calibri" pitchFamily="34" charset="0"/>
                <a:ea typeface="Calibri" pitchFamily="34" charset="-122"/>
                <a:cs typeface="Calibri" pitchFamily="34" charset="-120"/>
              </a:rPr>
              <a:t>Cancellation rate on matched rides</a:t>
            </a:r>
            <a:endParaRPr lang="en-US" sz="1000" dirty="0"/>
          </a:p>
        </p:txBody>
      </p:sp>
      <p:sp>
        <p:nvSpPr>
          <p:cNvPr id="26" name="Shape 24"/>
          <p:cNvSpPr/>
          <p:nvPr/>
        </p:nvSpPr>
        <p:spPr>
          <a:xfrm>
            <a:off x="10241280" y="2148840"/>
            <a:ext cx="0" cy="365760"/>
          </a:xfrm>
          <a:prstGeom prst="line">
            <a:avLst/>
          </a:prstGeom>
          <a:noFill/>
          <a:ln w="9525">
            <a:solidFill>
              <a:srgbClr val="6E6E6E"/>
            </a:solidFill>
            <a:prstDash val="solid"/>
          </a:ln>
        </p:spPr>
      </p:sp>
      <p:sp>
        <p:nvSpPr>
          <p:cNvPr id="27" name="Shape 25"/>
          <p:cNvSpPr/>
          <p:nvPr/>
        </p:nvSpPr>
        <p:spPr>
          <a:xfrm>
            <a:off x="8961120" y="2514600"/>
            <a:ext cx="2606040" cy="3291840"/>
          </a:xfrm>
          <a:prstGeom prst="roundRect">
            <a:avLst>
              <a:gd name="adj" fmla="val 2807"/>
            </a:avLst>
          </a:prstGeom>
          <a:solidFill>
            <a:srgbClr val="1A1A1A"/>
          </a:solidFill>
          <a:ln/>
        </p:spPr>
      </p:sp>
      <p:sp>
        <p:nvSpPr>
          <p:cNvPr id="28" name="Text 26"/>
          <p:cNvSpPr/>
          <p:nvPr/>
        </p:nvSpPr>
        <p:spPr>
          <a:xfrm>
            <a:off x="9144000" y="2697480"/>
            <a:ext cx="2240280" cy="502920"/>
          </a:xfrm>
          <a:prstGeom prst="rect">
            <a:avLst/>
          </a:prstGeom>
          <a:noFill/>
          <a:ln/>
        </p:spPr>
        <p:txBody>
          <a:bodyPr wrap="square" lIns="0" tIns="0" rIns="0" bIns="0" rtlCol="0" anchor="ctr"/>
          <a:lstStyle/>
          <a:p>
            <a:pPr indent="0" marL="0">
              <a:lnSpc>
                <a:spcPct val="110000"/>
              </a:lnSpc>
              <a:buNone/>
            </a:pPr>
            <a:r>
              <a:rPr lang="en-US" sz="1250" b="1" dirty="0">
                <a:solidFill>
                  <a:srgbClr val="F5A623"/>
                </a:solidFill>
                <a:latin typeface="Calibri" pitchFamily="34" charset="0"/>
                <a:ea typeface="Calibri" pitchFamily="34" charset="-122"/>
                <a:cs typeface="Calibri" pitchFamily="34" charset="-120"/>
              </a:rPr>
              <a:t>Business health</a:t>
            </a:r>
            <a:endParaRPr lang="en-US" sz="1250" dirty="0"/>
          </a:p>
        </p:txBody>
      </p:sp>
      <p:sp>
        <p:nvSpPr>
          <p:cNvPr id="29" name="Text 27"/>
          <p:cNvSpPr/>
          <p:nvPr/>
        </p:nvSpPr>
        <p:spPr>
          <a:xfrm>
            <a:off x="9144000" y="3291840"/>
            <a:ext cx="2240280" cy="2377440"/>
          </a:xfrm>
          <a:prstGeom prst="rect">
            <a:avLst/>
          </a:prstGeom>
          <a:noFill/>
          <a:ln/>
        </p:spPr>
        <p:txBody>
          <a:bodyPr wrap="square" lIns="0" tIns="0" rIns="0" bIns="0" rtlCol="0" anchor="ctr"/>
          <a:lstStyle/>
          <a:p>
            <a:pPr marL="342900" indent="-342900">
              <a:lnSpc>
                <a:spcPct val="135000"/>
              </a:lnSpc>
              <a:buSzPct val="100000"/>
              <a:buChar char="•"/>
            </a:pPr>
            <a:r>
              <a:rPr lang="en-US" sz="1000" dirty="0">
                <a:solidFill>
                  <a:srgbClr val="B0B0B0"/>
                </a:solidFill>
                <a:latin typeface="Calibri" pitchFamily="34" charset="0"/>
                <a:ea typeface="Calibri" pitchFamily="34" charset="-122"/>
                <a:cs typeface="Calibri" pitchFamily="34" charset="-120"/>
              </a:rPr>
              <a:t>Customer lifetime value</a:t>
            </a:r>
            <a:endParaRPr lang="en-US" sz="1000" dirty="0"/>
          </a:p>
          <a:p>
            <a:pPr marL="342900" indent="-342900">
              <a:lnSpc>
                <a:spcPct val="135000"/>
              </a:lnSpc>
              <a:buSzPct val="100000"/>
              <a:buChar char="•"/>
            </a:pPr>
            <a:r>
              <a:rPr lang="en-US" sz="1000" dirty="0">
                <a:solidFill>
                  <a:srgbClr val="B0B0B0"/>
                </a:solidFill>
                <a:latin typeface="Calibri" pitchFamily="34" charset="0"/>
                <a:ea typeface="Calibri" pitchFamily="34" charset="-122"/>
                <a:cs typeface="Calibri" pitchFamily="34" charset="-120"/>
              </a:rPr>
              <a:t>Churn rate</a:t>
            </a:r>
            <a:endParaRPr lang="en-US" sz="1000" dirty="0"/>
          </a:p>
          <a:p>
            <a:pPr marL="342900" indent="-342900">
              <a:lnSpc>
                <a:spcPct val="135000"/>
              </a:lnSpc>
              <a:buSzPct val="100000"/>
              <a:buChar char="•"/>
            </a:pPr>
            <a:r>
              <a:rPr lang="en-US" sz="1000" dirty="0">
                <a:solidFill>
                  <a:srgbClr val="B0B0B0"/>
                </a:solidFill>
                <a:latin typeface="Calibri" pitchFamily="34" charset="0"/>
                <a:ea typeface="Calibri" pitchFamily="34" charset="-122"/>
                <a:cs typeface="Calibri" pitchFamily="34" charset="-120"/>
              </a:rPr>
              <a:t>Referral / NPS score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8778240" y="1097280"/>
            <a:ext cx="4206240" cy="4206240"/>
          </a:xfrm>
          <a:prstGeom prst="ellipse">
            <a:avLst/>
          </a:prstGeom>
          <a:ln w="25400">
            <a:solidFill>
              <a:srgbClr val="8A5A0F"/>
            </a:solidFill>
            <a:prstDash val="solid"/>
          </a:ln>
        </p:spPr>
      </p:sp>
      <p:sp>
        <p:nvSpPr>
          <p:cNvPr id="3" name="Shape 1"/>
          <p:cNvSpPr/>
          <p:nvPr/>
        </p:nvSpPr>
        <p:spPr>
          <a:xfrm>
            <a:off x="9692640" y="2011680"/>
            <a:ext cx="2377440" cy="2377440"/>
          </a:xfrm>
          <a:prstGeom prst="ellipse">
            <a:avLst/>
          </a:prstGeom>
          <a:ln w="25400">
            <a:solidFill>
              <a:srgbClr val="F5A623"/>
            </a:solidFill>
            <a:prstDash val="solid"/>
          </a:ln>
        </p:spPr>
      </p:sp>
      <p:sp>
        <p:nvSpPr>
          <p:cNvPr id="4" name="Text 2"/>
          <p:cNvSpPr/>
          <p:nvPr/>
        </p:nvSpPr>
        <p:spPr>
          <a:xfrm>
            <a:off x="914400" y="2834640"/>
            <a:ext cx="73152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5" name="Text 3"/>
          <p:cNvSpPr/>
          <p:nvPr/>
        </p:nvSpPr>
        <p:spPr>
          <a:xfrm>
            <a:off x="914400" y="3611880"/>
            <a:ext cx="6400800" cy="365760"/>
          </a:xfrm>
          <a:prstGeom prst="rect">
            <a:avLst/>
          </a:prstGeom>
          <a:noFill/>
          <a:ln/>
        </p:spPr>
        <p:txBody>
          <a:bodyPr wrap="square" lIns="0" tIns="0" rIns="0" bIns="0" rtlCol="0" anchor="ctr"/>
          <a:lstStyle/>
          <a:p>
            <a:pPr indent="0" marL="0">
              <a:buNone/>
            </a:pPr>
            <a:r>
              <a:rPr lang="en-US" sz="1400" i="1" dirty="0">
                <a:solidFill>
                  <a:srgbClr val="B0B0B0"/>
                </a:solidFill>
                <a:latin typeface="Calibri" pitchFamily="34" charset="0"/>
                <a:ea typeface="Calibri" pitchFamily="34" charset="-122"/>
                <a:cs typeface="Calibri" pitchFamily="34" charset="-120"/>
              </a:rPr>
              <a:t>Open to feedback and further discussion.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2026-07-14T18:21:15Z</dcterms:created>
  <dcterms:modified xsi:type="dcterms:W3CDTF">2026-07-14T18:21:15Z</dcterms:modified>
</cp:coreProperties>
</file>